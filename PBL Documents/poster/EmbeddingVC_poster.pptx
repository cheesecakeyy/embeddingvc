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9AA0A6"/>
          </p15:clr>
        </p15:guide>
        <p15:guide id="2" orient="horz"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hVh+Fg4ocRMZsd4OGRR0WQ0wdK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varScale="1">
        <p:scale>
          <a:sx n="108" d="100"/>
          <a:sy n="108" d="100"/>
        </p:scale>
        <p:origin x="1848" y="108"/>
      </p:cViewPr>
      <p:guideLst>
        <p:guide pos="3840"/>
        <p:guide orient="horz" pos="2160"/>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
          <p:cNvSpPr txBox="1"/>
          <p:nvPr/>
        </p:nvSpPr>
        <p:spPr>
          <a:xfrm>
            <a:off x="3074503" y="768516"/>
            <a:ext cx="9030900" cy="1261844"/>
          </a:xfrm>
          <a:prstGeom prst="rect">
            <a:avLst/>
          </a:prstGeom>
          <a:solidFill>
            <a:srgbClr val="2F5496"/>
          </a:solidFill>
          <a:ln>
            <a:noFill/>
          </a:ln>
        </p:spPr>
        <p:txBody>
          <a:bodyPr spcFirstLastPara="1" wrap="square" lIns="91425" tIns="45700" rIns="0"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Century"/>
                <a:ea typeface="Century"/>
                <a:cs typeface="Century"/>
                <a:sym typeface="Century"/>
              </a:rPr>
              <a:t>DEPARTMENT OF COMPUTER SCIENCE &amp; ENGINEERING</a:t>
            </a:r>
            <a:endParaRPr sz="1800" b="0" i="0" u="none" strike="noStrike" cap="none" dirty="0">
              <a:solidFill>
                <a:schemeClr val="lt1"/>
              </a:solidFill>
              <a:latin typeface="Century"/>
              <a:ea typeface="Century"/>
              <a:cs typeface="Century"/>
              <a:sym typeface="Century"/>
            </a:endParaRPr>
          </a:p>
          <a:p>
            <a:pPr algn="ctr">
              <a:buSzPts val="2800"/>
            </a:pPr>
            <a:r>
              <a:rPr lang="en-IN" sz="2600" i="1" dirty="0" err="1">
                <a:solidFill>
                  <a:schemeClr val="bg1"/>
                </a:solidFill>
                <a:latin typeface="Calibri" panose="020F0502020204030204" pitchFamily="34" charset="0"/>
                <a:ea typeface="Calibri" panose="020F0502020204030204" pitchFamily="34" charset="0"/>
                <a:cs typeface="Calibri" panose="020F0502020204030204" pitchFamily="34" charset="0"/>
              </a:rPr>
              <a:t>EmbeddingVC</a:t>
            </a:r>
            <a:endParaRPr lang="en-IN" sz="2600" i="1" dirty="0">
              <a:solidFill>
                <a:schemeClr val="bg1"/>
              </a:solidFill>
            </a:endParaRPr>
          </a:p>
          <a:p>
            <a:pPr lvl="0" algn="ctr">
              <a:buSzPts val="2800"/>
            </a:pP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Git-Inspired Version Control System for AI Embeddings </a:t>
            </a:r>
          </a:p>
          <a:p>
            <a:pPr lvl="0" algn="ctr">
              <a:buSzPts val="2800"/>
            </a:pPr>
            <a:r>
              <a:rPr lang="en-IN" sz="1800" i="1" dirty="0">
                <a:solidFill>
                  <a:schemeClr val="bg1"/>
                </a:solidFill>
              </a:rPr>
              <a:t>Adwait Tagalpallewar , Archit Bankey, Parth Verma, Sagar Shahgond</a:t>
            </a:r>
            <a:endParaRPr sz="1400" b="0" i="1" u="none" strike="noStrike" cap="none" dirty="0">
              <a:solidFill>
                <a:schemeClr val="bg1"/>
              </a:solidFill>
              <a:latin typeface="Arial"/>
              <a:ea typeface="Arial"/>
              <a:cs typeface="Arial"/>
              <a:sym typeface="Arial"/>
            </a:endParaRPr>
          </a:p>
        </p:txBody>
      </p:sp>
      <p:sp>
        <p:nvSpPr>
          <p:cNvPr id="86" name="Google Shape;86;p1"/>
          <p:cNvSpPr txBox="1"/>
          <p:nvPr/>
        </p:nvSpPr>
        <p:spPr>
          <a:xfrm>
            <a:off x="146045" y="1505174"/>
            <a:ext cx="2848253" cy="523180"/>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Faculty Guide:</a:t>
            </a:r>
            <a:r>
              <a:rPr lang="en-US" sz="1200" dirty="0">
                <a:ea typeface="Calibri"/>
              </a:rPr>
              <a:t> </a:t>
            </a:r>
            <a:r>
              <a:rPr lang="en-IN" sz="1200" dirty="0"/>
              <a:t>Dr. Naagesh Jadhav</a:t>
            </a:r>
          </a:p>
          <a:p>
            <a:pPr marL="0" marR="0" lvl="0" indent="0" algn="l" rtl="0">
              <a:lnSpc>
                <a:spcPct val="100000"/>
              </a:lnSpc>
              <a:spcBef>
                <a:spcPts val="0"/>
              </a:spcBef>
              <a:spcAft>
                <a:spcPts val="0"/>
              </a:spcAft>
              <a:buClr>
                <a:srgbClr val="000000"/>
              </a:buClr>
              <a:buSzPts val="1600"/>
              <a:buFont typeface="Arial"/>
              <a:buNone/>
            </a:pPr>
            <a:r>
              <a:rPr lang="en-IN" sz="1200" dirty="0"/>
              <a:t> </a:t>
            </a:r>
            <a:endParaRPr sz="1200" b="1" i="0" u="none" strike="noStrike" cap="none" dirty="0">
              <a:solidFill>
                <a:srgbClr val="000000"/>
              </a:solidFill>
              <a:latin typeface="Arial"/>
              <a:ea typeface="Arial"/>
              <a:cs typeface="Arial"/>
              <a:sym typeface="Arial"/>
            </a:endParaRPr>
          </a:p>
        </p:txBody>
      </p:sp>
      <p:sp>
        <p:nvSpPr>
          <p:cNvPr id="88" name="Google Shape;88;p1"/>
          <p:cNvSpPr txBox="1"/>
          <p:nvPr/>
        </p:nvSpPr>
        <p:spPr>
          <a:xfrm>
            <a:off x="3074504" y="158510"/>
            <a:ext cx="7420624" cy="584775"/>
          </a:xfrm>
          <a:prstGeom prst="rect">
            <a:avLst/>
          </a:prstGeom>
          <a:solidFill>
            <a:srgbClr val="B3C6E7"/>
          </a:solidFill>
          <a:ln>
            <a:noFill/>
          </a:ln>
        </p:spPr>
        <p:txBody>
          <a:bodyPr spcFirstLastPara="1" wrap="square" lIns="91425" tIns="45700" rIns="91425" bIns="45700" anchor="t" anchorCtr="0">
            <a:spAutoFit/>
          </a:bodyPr>
          <a:lstStyle/>
          <a:p>
            <a:pPr lvl="0" algn="ctr">
              <a:buSzPts val="3200"/>
            </a:pPr>
            <a:r>
              <a:rPr lang="en-US" sz="3200" dirty="0">
                <a:solidFill>
                  <a:srgbClr val="323F4F"/>
                </a:solidFill>
                <a:latin typeface="Century"/>
                <a:ea typeface="Century"/>
                <a:cs typeface="Century"/>
                <a:sym typeface="Century"/>
              </a:rPr>
              <a:t>MIT SCHOOL OF COMPUTING </a:t>
            </a:r>
          </a:p>
        </p:txBody>
      </p:sp>
      <p:sp>
        <p:nvSpPr>
          <p:cNvPr id="89" name="Google Shape;89;p1"/>
          <p:cNvSpPr txBox="1"/>
          <p:nvPr/>
        </p:nvSpPr>
        <p:spPr>
          <a:xfrm>
            <a:off x="-3345986" y="2629235"/>
            <a:ext cx="2869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
          <p:cNvSpPr txBox="1"/>
          <p:nvPr/>
        </p:nvSpPr>
        <p:spPr>
          <a:xfrm>
            <a:off x="118467" y="5159839"/>
            <a:ext cx="4215851" cy="1538842"/>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b="1" i="0" u="none" strike="noStrike" cap="none" dirty="0">
                <a:solidFill>
                  <a:schemeClr val="dk1"/>
                </a:solidFill>
                <a:latin typeface="Arial"/>
                <a:ea typeface="Arial"/>
                <a:cs typeface="Arial"/>
                <a:sym typeface="Arial"/>
              </a:rPr>
              <a:t>Problem statement</a:t>
            </a:r>
            <a:endParaRPr b="1" i="0" u="none" strike="noStrike" cap="none" dirty="0">
              <a:solidFill>
                <a:srgbClr val="000000"/>
              </a:solidFill>
              <a:latin typeface="Arial"/>
              <a:ea typeface="Arial"/>
              <a:cs typeface="Arial"/>
              <a:sym typeface="Arial"/>
            </a:endParaRPr>
          </a:p>
          <a:p>
            <a:pPr lvl="0" algn="just">
              <a:buClr>
                <a:schemeClr val="dk1"/>
              </a:buClr>
              <a:buSzPts val="1100"/>
            </a:pPr>
            <a:r>
              <a:rPr lang="en-IN" sz="1000" dirty="0"/>
              <a:t>Modern AI systems such as RAG, semantic search, and vector databases rely on embeddings. When source documents, preprocessing, chunking, or embeddings models change, existing embeddings become outdated. Current system often regenerate the entire embedding collection, leading to high computational cost and longer processing time. Therefore, a Git-inspired version control system is needed to efficiently track embedding changes, reuse valid embeddings, and regenerate only the affected vectors.</a:t>
            </a:r>
            <a:endParaRPr sz="1000" dirty="0">
              <a:solidFill>
                <a:schemeClr val="dk1"/>
              </a:solidFill>
              <a:latin typeface="Calibri"/>
              <a:ea typeface="Calibri"/>
              <a:cs typeface="Calibri"/>
              <a:sym typeface="Calibri"/>
            </a:endParaRPr>
          </a:p>
        </p:txBody>
      </p:sp>
      <p:sp>
        <p:nvSpPr>
          <p:cNvPr id="91" name="Google Shape;91;p1"/>
          <p:cNvSpPr txBox="1"/>
          <p:nvPr/>
        </p:nvSpPr>
        <p:spPr>
          <a:xfrm>
            <a:off x="4433688" y="5159870"/>
            <a:ext cx="4006200" cy="1538842"/>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b="1" i="0" u="none" strike="noStrike" cap="none" dirty="0">
                <a:solidFill>
                  <a:schemeClr val="dk1"/>
                </a:solidFill>
                <a:latin typeface="Arial"/>
                <a:ea typeface="Arial"/>
                <a:cs typeface="Arial"/>
                <a:sym typeface="Arial"/>
              </a:rPr>
              <a:t>Proposed Solution</a:t>
            </a:r>
            <a:endParaRPr b="1" i="0" u="none" strike="noStrike" cap="none" dirty="0">
              <a:solidFill>
                <a:schemeClr val="dk1"/>
              </a:solidFill>
              <a:latin typeface="Arial"/>
              <a:ea typeface="Arial"/>
              <a:cs typeface="Arial"/>
              <a:sym typeface="Arial"/>
            </a:endParaRPr>
          </a:p>
          <a:p>
            <a:pPr algn="just"/>
            <a:r>
              <a:rPr lang="en-IN" sz="1000" b="1" dirty="0" err="1"/>
              <a:t>EmbeddingVC</a:t>
            </a:r>
            <a:r>
              <a:rPr lang="en-IN" sz="1000" dirty="0"/>
              <a:t> introduces a Git-inspired version control framework for AI embeddings. The system tracks document changes, identifies stale embeddings using content and configuration hashes, incrementally regenerates only the affected vectors, and maintains version history with complete provenance. Instead of rebuilding the entire vector database after every modification, </a:t>
            </a:r>
            <a:r>
              <a:rPr lang="en-IN" sz="1000" dirty="0" err="1"/>
              <a:t>EmbeddingVC</a:t>
            </a:r>
            <a:r>
              <a:rPr lang="en-IN" sz="1000" dirty="0"/>
              <a:t> updates only the changed embeddings, reducing computational cost while improving reproducibility and retrieval consistency.</a:t>
            </a:r>
          </a:p>
        </p:txBody>
      </p:sp>
      <p:sp>
        <p:nvSpPr>
          <p:cNvPr id="92" name="Google Shape;92;p1"/>
          <p:cNvSpPr txBox="1"/>
          <p:nvPr/>
        </p:nvSpPr>
        <p:spPr>
          <a:xfrm>
            <a:off x="8539258" y="5168095"/>
            <a:ext cx="3534275" cy="1538842"/>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b="1" i="0" u="none" strike="noStrike" cap="none" dirty="0">
                <a:solidFill>
                  <a:schemeClr val="dk1"/>
                </a:solidFill>
                <a:latin typeface="Arial"/>
                <a:ea typeface="Arial"/>
                <a:cs typeface="Arial"/>
                <a:sym typeface="Arial"/>
              </a:rPr>
              <a:t>Scope and Feasibility</a:t>
            </a:r>
          </a:p>
          <a:p>
            <a:pPr marL="171450" lvl="0" indent="-171450">
              <a:buFont typeface="Arial" panose="020B0604020202020204" pitchFamily="34" charset="0"/>
              <a:buChar char="•"/>
            </a:pPr>
            <a:r>
              <a:rPr lang="en-IN" sz="1000" dirty="0"/>
              <a:t>Support multimodal embeddings for text, images, audio, video.</a:t>
            </a:r>
          </a:p>
          <a:p>
            <a:pPr marL="171450" lvl="0" indent="-171450">
              <a:buFont typeface="Arial" panose="020B0604020202020204" pitchFamily="34" charset="0"/>
              <a:buChar char="•"/>
            </a:pPr>
            <a:r>
              <a:rPr lang="en-IN" sz="1000" dirty="0"/>
              <a:t>Enable cross-model alignment and compatibility.</a:t>
            </a:r>
          </a:p>
          <a:p>
            <a:pPr marL="171450" lvl="0" indent="-171450">
              <a:buFont typeface="Arial" panose="020B0604020202020204" pitchFamily="34" charset="0"/>
              <a:buChar char="•"/>
            </a:pPr>
            <a:r>
              <a:rPr lang="en-IN" sz="1000" dirty="0"/>
              <a:t>Develop collaborative version control for teams.</a:t>
            </a:r>
          </a:p>
          <a:p>
            <a:pPr marL="171450" lvl="0" indent="-171450">
              <a:buFont typeface="Arial" panose="020B0604020202020204" pitchFamily="34" charset="0"/>
              <a:buChar char="•"/>
            </a:pPr>
            <a:r>
              <a:rPr lang="en-IN" sz="1000" dirty="0"/>
              <a:t>Integrate with cloud vector databases like Pinecone, </a:t>
            </a:r>
            <a:r>
              <a:rPr lang="en-IN" sz="1000" dirty="0" err="1"/>
              <a:t>Weaviate</a:t>
            </a:r>
            <a:r>
              <a:rPr lang="en-IN" sz="1000" dirty="0"/>
              <a:t>, and </a:t>
            </a:r>
            <a:r>
              <a:rPr lang="en-IN" sz="1000" dirty="0" err="1"/>
              <a:t>Qdrant</a:t>
            </a:r>
            <a:r>
              <a:rPr lang="en-IN" sz="1000" dirty="0"/>
              <a:t>.</a:t>
            </a:r>
          </a:p>
          <a:p>
            <a:pPr marL="171450" lvl="0" indent="-171450">
              <a:buFont typeface="Arial" panose="020B0604020202020204" pitchFamily="34" charset="0"/>
              <a:buChar char="•"/>
            </a:pPr>
            <a:r>
              <a:rPr lang="en-IN" sz="1000" dirty="0"/>
              <a:t>Automate semantic drift detection between versions.</a:t>
            </a:r>
          </a:p>
          <a:p>
            <a:pPr marL="171450" lvl="0" indent="-171450">
              <a:buFont typeface="Arial" panose="020B0604020202020204" pitchFamily="34" charset="0"/>
              <a:buChar char="•"/>
            </a:pPr>
            <a:r>
              <a:rPr lang="en-IN" sz="1000" dirty="0"/>
              <a:t>Provide visualization of embedding changes and history.</a:t>
            </a:r>
          </a:p>
        </p:txBody>
      </p:sp>
      <p:sp>
        <p:nvSpPr>
          <p:cNvPr id="93" name="Google Shape;93;p1"/>
          <p:cNvSpPr txBox="1"/>
          <p:nvPr/>
        </p:nvSpPr>
        <p:spPr>
          <a:xfrm>
            <a:off x="10495128" y="180102"/>
            <a:ext cx="1626610" cy="523180"/>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b="1" i="0" u="none" strike="noStrike" cap="none" dirty="0">
                <a:solidFill>
                  <a:schemeClr val="dk1"/>
                </a:solidFill>
                <a:latin typeface="Calibri"/>
                <a:ea typeface="Calibri"/>
                <a:cs typeface="Calibri"/>
                <a:sym typeface="Calibri"/>
              </a:rPr>
              <a:t>Class</a:t>
            </a:r>
            <a:r>
              <a:rPr lang="en-US" sz="1600" b="1" i="0" u="none" strike="noStrike" cap="none" dirty="0">
                <a:solidFill>
                  <a:schemeClr val="dk1"/>
                </a:solidFill>
                <a:latin typeface="Calibri"/>
                <a:ea typeface="Calibri"/>
                <a:cs typeface="Calibri"/>
                <a:sym typeface="Calibri"/>
              </a:rPr>
              <a:t> : </a:t>
            </a:r>
            <a:r>
              <a:rPr lang="en-US" sz="1200" b="1" i="0" u="none" strike="noStrike" cap="none" dirty="0">
                <a:solidFill>
                  <a:schemeClr val="dk1"/>
                </a:solidFill>
                <a:latin typeface="Calibri"/>
                <a:ea typeface="Calibri"/>
                <a:cs typeface="Calibri"/>
                <a:sym typeface="Calibri"/>
              </a:rPr>
              <a:t>TYAIA1 &amp; CC1</a:t>
            </a:r>
            <a:endParaRPr sz="1400" b="0" i="0" u="none" strike="noStrike" cap="none" dirty="0">
              <a:solidFill>
                <a:srgbClr val="000000"/>
              </a:solidFill>
              <a:latin typeface="Arial"/>
              <a:ea typeface="Arial"/>
              <a:cs typeface="Arial"/>
              <a:sym typeface="Arial"/>
            </a:endParaRPr>
          </a:p>
          <a:p>
            <a:pPr lvl="0">
              <a:buSzPts val="1600"/>
            </a:pPr>
            <a:r>
              <a:rPr lang="en-US" sz="1200" b="1" i="0" u="none" strike="noStrike" cap="none" dirty="0">
                <a:solidFill>
                  <a:schemeClr val="dk1"/>
                </a:solidFill>
                <a:latin typeface="Calibri"/>
                <a:ea typeface="Calibri"/>
                <a:cs typeface="Calibri"/>
                <a:sym typeface="Calibri"/>
              </a:rPr>
              <a:t>Group Id: </a:t>
            </a:r>
            <a:r>
              <a:rPr lang="en-IN" sz="1100" b="1" dirty="0"/>
              <a:t>TYAIA116</a:t>
            </a:r>
            <a:endParaRPr sz="1100" b="0" i="0" u="none" strike="noStrike" cap="none" dirty="0">
              <a:solidFill>
                <a:srgbClr val="000000"/>
              </a:solidFill>
              <a:latin typeface="Arial"/>
              <a:ea typeface="Arial"/>
              <a:cs typeface="Arial"/>
              <a:sym typeface="Arial"/>
            </a:endParaRPr>
          </a:p>
        </p:txBody>
      </p:sp>
      <p:graphicFrame>
        <p:nvGraphicFramePr>
          <p:cNvPr id="20" name="Table 19">
            <a:extLst>
              <a:ext uri="{FF2B5EF4-FFF2-40B4-BE49-F238E27FC236}">
                <a16:creationId xmlns:a16="http://schemas.microsoft.com/office/drawing/2014/main" id="{94E1B4CA-4BBC-B388-A674-A0E53BD74109}"/>
              </a:ext>
            </a:extLst>
          </p:cNvPr>
          <p:cNvGraphicFramePr>
            <a:graphicFrameLocks noGrp="1"/>
          </p:cNvGraphicFramePr>
          <p:nvPr>
            <p:extLst>
              <p:ext uri="{D42A27DB-BD31-4B8C-83A1-F6EECF244321}">
                <p14:modId xmlns:p14="http://schemas.microsoft.com/office/powerpoint/2010/main" val="1754262250"/>
              </p:ext>
            </p:extLst>
          </p:nvPr>
        </p:nvGraphicFramePr>
        <p:xfrm>
          <a:off x="4433688" y="2276856"/>
          <a:ext cx="4006200" cy="2753541"/>
        </p:xfrm>
        <a:graphic>
          <a:graphicData uri="http://schemas.openxmlformats.org/drawingml/2006/table">
            <a:tbl>
              <a:tblPr firstRow="1" bandRow="1">
                <a:tableStyleId>{2D5ABB26-0587-4C30-8999-92F81FD0307C}</a:tableStyleId>
              </a:tblPr>
              <a:tblGrid>
                <a:gridCol w="783472">
                  <a:extLst>
                    <a:ext uri="{9D8B030D-6E8A-4147-A177-3AD203B41FA5}">
                      <a16:colId xmlns:a16="http://schemas.microsoft.com/office/drawing/2014/main" val="3270516945"/>
                    </a:ext>
                  </a:extLst>
                </a:gridCol>
                <a:gridCol w="1887328">
                  <a:extLst>
                    <a:ext uri="{9D8B030D-6E8A-4147-A177-3AD203B41FA5}">
                      <a16:colId xmlns:a16="http://schemas.microsoft.com/office/drawing/2014/main" val="3928882785"/>
                    </a:ext>
                  </a:extLst>
                </a:gridCol>
                <a:gridCol w="1335400">
                  <a:extLst>
                    <a:ext uri="{9D8B030D-6E8A-4147-A177-3AD203B41FA5}">
                      <a16:colId xmlns:a16="http://schemas.microsoft.com/office/drawing/2014/main" val="49848182"/>
                    </a:ext>
                  </a:extLst>
                </a:gridCol>
              </a:tblGrid>
              <a:tr h="505445">
                <a:tc>
                  <a:txBody>
                    <a:bodyPr/>
                    <a:lstStyle/>
                    <a:p>
                      <a:pPr algn="ctr"/>
                      <a:r>
                        <a:rPr lang="en-IN" sz="1100" b="1" dirty="0">
                          <a:solidFill>
                            <a:schemeClr val="bg1"/>
                          </a:solidFill>
                        </a:rPr>
                        <a:t>Sr no.</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IN" sz="1100" b="1" dirty="0">
                          <a:solidFill>
                            <a:schemeClr val="bg1"/>
                          </a:solidFill>
                        </a:rPr>
                        <a:t>Requirements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IN" sz="1100" b="1" dirty="0">
                          <a:solidFill>
                            <a:schemeClr val="bg1"/>
                          </a:solidFill>
                        </a:rPr>
                        <a:t>Proposed Solution</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868821474"/>
                  </a:ext>
                </a:extLst>
              </a:tr>
              <a:tr h="262278">
                <a:tc>
                  <a:txBody>
                    <a:bodyPr/>
                    <a:lstStyle/>
                    <a:p>
                      <a:pPr algn="ctr"/>
                      <a:r>
                        <a:rPr lang="en-IN" sz="800" dirty="0"/>
                        <a:t>1.</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Detect changed documents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SHA-256 hashing</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954714433"/>
                  </a:ext>
                </a:extLst>
              </a:tr>
              <a:tr h="262278">
                <a:tc>
                  <a:txBody>
                    <a:bodyPr/>
                    <a:lstStyle/>
                    <a:p>
                      <a:pPr algn="ctr"/>
                      <a:r>
                        <a:rPr lang="en-IN" sz="800" dirty="0"/>
                        <a:t>2.</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Track embedding versions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Git-like commits</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157033866"/>
                  </a:ext>
                </a:extLst>
              </a:tr>
              <a:tr h="412150">
                <a:tc>
                  <a:txBody>
                    <a:bodyPr/>
                    <a:lstStyle/>
                    <a:p>
                      <a:pPr algn="ctr"/>
                      <a:r>
                        <a:rPr lang="en-IN" sz="800" dirty="0"/>
                        <a:t>3.</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Avoid duplicate embeddings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Content-addressable storage</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4251641127"/>
                  </a:ext>
                </a:extLst>
              </a:tr>
              <a:tr h="262278">
                <a:tc>
                  <a:txBody>
                    <a:bodyPr/>
                    <a:lstStyle/>
                    <a:p>
                      <a:pPr algn="ctr"/>
                      <a:r>
                        <a:rPr lang="en-IN" sz="800" dirty="0"/>
                        <a:t>4.</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Restore previous state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Checkout mechanism</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132497937"/>
                  </a:ext>
                </a:extLst>
              </a:tr>
              <a:tr h="262278">
                <a:tc>
                  <a:txBody>
                    <a:bodyPr/>
                    <a:lstStyle/>
                    <a:p>
                      <a:pPr algn="ctr"/>
                      <a:r>
                        <a:rPr lang="en-IN" sz="800" dirty="0"/>
                        <a:t>5. </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Fast updates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Incremental regeneration</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594576042"/>
                  </a:ext>
                </a:extLst>
              </a:tr>
              <a:tr h="262278">
                <a:tc>
                  <a:txBody>
                    <a:bodyPr/>
                    <a:lstStyle/>
                    <a:p>
                      <a:pPr algn="ctr"/>
                      <a:r>
                        <a:rPr lang="en-IN" sz="800" dirty="0"/>
                        <a:t>6.</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Detect stale vectors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Configuration hashing</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545256037"/>
                  </a:ext>
                </a:extLst>
              </a:tr>
              <a:tr h="262278">
                <a:tc>
                  <a:txBody>
                    <a:bodyPr/>
                    <a:lstStyle/>
                    <a:p>
                      <a:pPr algn="ctr"/>
                      <a:r>
                        <a:rPr lang="en-IN" sz="800" dirty="0"/>
                        <a:t>7.</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Scroll through old versions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Versioned vectors</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918301470"/>
                  </a:ext>
                </a:extLst>
              </a:tr>
              <a:tr h="262278">
                <a:tc>
                  <a:txBody>
                    <a:bodyPr/>
                    <a:lstStyle/>
                    <a:p>
                      <a:pPr algn="ctr"/>
                      <a:r>
                        <a:rPr lang="en-IN" sz="800" dirty="0"/>
                        <a:t>8.</a:t>
                      </a: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Track metadata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IN" sz="800" dirty="0"/>
                        <a:t>Provenance system</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147947454"/>
                  </a:ext>
                </a:extLst>
              </a:tr>
            </a:tbl>
          </a:graphicData>
        </a:graphic>
      </p:graphicFrame>
      <p:pic>
        <p:nvPicPr>
          <p:cNvPr id="6" name="Google Shape;84;p1" descr="A picture containing logo&#10;&#10;Description automatically generated">
            <a:extLst>
              <a:ext uri="{FF2B5EF4-FFF2-40B4-BE49-F238E27FC236}">
                <a16:creationId xmlns:a16="http://schemas.microsoft.com/office/drawing/2014/main" id="{65D6524F-13AD-B8CE-28DE-719145CBD935}"/>
              </a:ext>
            </a:extLst>
          </p:cNvPr>
          <p:cNvPicPr preferRelativeResize="0"/>
          <p:nvPr/>
        </p:nvPicPr>
        <p:blipFill rotWithShape="1">
          <a:blip r:embed="rId3">
            <a:alphaModFix/>
          </a:blip>
          <a:srcRect/>
          <a:stretch/>
        </p:blipFill>
        <p:spPr>
          <a:xfrm>
            <a:off x="118467" y="81924"/>
            <a:ext cx="2885826" cy="1354217"/>
          </a:xfrm>
          <a:prstGeom prst="rect">
            <a:avLst/>
          </a:prstGeom>
          <a:noFill/>
          <a:ln>
            <a:noFill/>
          </a:ln>
        </p:spPr>
      </p:pic>
      <p:graphicFrame>
        <p:nvGraphicFramePr>
          <p:cNvPr id="31" name="Table 30">
            <a:extLst>
              <a:ext uri="{FF2B5EF4-FFF2-40B4-BE49-F238E27FC236}">
                <a16:creationId xmlns:a16="http://schemas.microsoft.com/office/drawing/2014/main" id="{C5F34A61-56C1-8B42-B2CB-2F772544C5B4}"/>
              </a:ext>
            </a:extLst>
          </p:cNvPr>
          <p:cNvGraphicFramePr>
            <a:graphicFrameLocks noGrp="1"/>
          </p:cNvGraphicFramePr>
          <p:nvPr>
            <p:extLst>
              <p:ext uri="{D42A27DB-BD31-4B8C-83A1-F6EECF244321}">
                <p14:modId xmlns:p14="http://schemas.microsoft.com/office/powerpoint/2010/main" val="2117811451"/>
              </p:ext>
            </p:extLst>
          </p:nvPr>
        </p:nvGraphicFramePr>
        <p:xfrm>
          <a:off x="146044" y="2276389"/>
          <a:ext cx="4236116" cy="1432560"/>
        </p:xfrm>
        <a:graphic>
          <a:graphicData uri="http://schemas.openxmlformats.org/drawingml/2006/table">
            <a:tbl>
              <a:tblPr firstRow="1" bandRow="1">
                <a:tableStyleId>{5C22544A-7EE6-4342-B048-85BDC9FD1C3A}</a:tableStyleId>
              </a:tblPr>
              <a:tblGrid>
                <a:gridCol w="2118058">
                  <a:extLst>
                    <a:ext uri="{9D8B030D-6E8A-4147-A177-3AD203B41FA5}">
                      <a16:colId xmlns:a16="http://schemas.microsoft.com/office/drawing/2014/main" val="1741489030"/>
                    </a:ext>
                  </a:extLst>
                </a:gridCol>
                <a:gridCol w="2118058">
                  <a:extLst>
                    <a:ext uri="{9D8B030D-6E8A-4147-A177-3AD203B41FA5}">
                      <a16:colId xmlns:a16="http://schemas.microsoft.com/office/drawing/2014/main" val="3466310529"/>
                    </a:ext>
                  </a:extLst>
                </a:gridCol>
              </a:tblGrid>
              <a:tr h="23050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SAYS</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THINKS</a:t>
                      </a:r>
                      <a:endParaRPr lang="en-IN" sz="1000" dirty="0"/>
                    </a:p>
                  </a:txBody>
                  <a:tcPr>
                    <a:solidFill>
                      <a:schemeClr val="bg2">
                        <a:lumMod val="75000"/>
                      </a:schemeClr>
                    </a:solidFill>
                  </a:tcPr>
                </a:tc>
                <a:extLst>
                  <a:ext uri="{0D108BD9-81ED-4DB2-BD59-A6C34878D82A}">
                    <a16:rowId xmlns:a16="http://schemas.microsoft.com/office/drawing/2014/main" val="169669668"/>
                  </a:ext>
                </a:extLst>
              </a:tr>
              <a:tr h="1123712">
                <a:tc>
                  <a:txBody>
                    <a:bodyPr/>
                    <a:lstStyle/>
                    <a:p>
                      <a:pPr marL="171450" lvl="0" indent="-171450" algn="just">
                        <a:buFont typeface="Arial" panose="020B0604020202020204" pitchFamily="34" charset="0"/>
                        <a:buChar char="•"/>
                      </a:pPr>
                      <a:endParaRPr lang="en-IN" sz="800" dirty="0"/>
                    </a:p>
                    <a:p>
                      <a:pPr marL="171450" lvl="0" indent="-171450" algn="just">
                        <a:buFont typeface="Arial" panose="020B0604020202020204" pitchFamily="34" charset="0"/>
                        <a:buChar char="•"/>
                      </a:pPr>
                      <a:r>
                        <a:rPr lang="en-IN" sz="800" dirty="0"/>
                        <a:t>"Updating all embeddings takes too much time." </a:t>
                      </a:r>
                    </a:p>
                    <a:p>
                      <a:pPr marL="171450" lvl="0" indent="-171450">
                        <a:buFont typeface="Arial" panose="020B0604020202020204" pitchFamily="34" charset="0"/>
                        <a:buChar char="•"/>
                      </a:pPr>
                      <a:r>
                        <a:rPr lang="en-IN" sz="800" dirty="0"/>
                        <a:t>"I need a reliable way to track embedding changes." </a:t>
                      </a:r>
                    </a:p>
                    <a:p>
                      <a:pPr marL="171450" lvl="0" indent="-171450" algn="just">
                        <a:buFont typeface="Arial" panose="020B0604020202020204" pitchFamily="34" charset="0"/>
                        <a:buChar char="•"/>
                      </a:pPr>
                      <a:r>
                        <a:rPr lang="en-IN" sz="800" dirty="0"/>
                        <a:t>"Which embeddings are still valid?" </a:t>
                      </a:r>
                    </a:p>
                    <a:p>
                      <a:pPr marL="171450" lvl="0" indent="-171450">
                        <a:buFont typeface="Arial" panose="020B0604020202020204" pitchFamily="34" charset="0"/>
                        <a:buChar char="•"/>
                      </a:pPr>
                      <a:r>
                        <a:rPr lang="en-IN" sz="800" dirty="0"/>
                        <a:t>"I want to restore previous embedding versions easily."</a:t>
                      </a:r>
                    </a:p>
                  </a:txBody>
                  <a:tcPr>
                    <a:solidFill>
                      <a:schemeClr val="bg2">
                        <a:lumMod val="20000"/>
                        <a:lumOff val="80000"/>
                      </a:schemeClr>
                    </a:solidFill>
                  </a:tcPr>
                </a:tc>
                <a:tc>
                  <a:txBody>
                    <a:bodyPr/>
                    <a:lstStyle/>
                    <a:p>
                      <a:pPr marL="171450" lvl="0" indent="-171450" algn="just">
                        <a:buFont typeface="Arial" panose="020B0604020202020204" pitchFamily="34" charset="0"/>
                        <a:buChar char="•"/>
                      </a:pPr>
                      <a:endParaRPr lang="en-IN" sz="800" dirty="0"/>
                    </a:p>
                    <a:p>
                      <a:pPr marL="171450" lvl="0" indent="-171450" algn="just">
                        <a:buFont typeface="Arial" panose="020B0604020202020204" pitchFamily="34" charset="0"/>
                        <a:buChar char="•"/>
                      </a:pPr>
                      <a:r>
                        <a:rPr lang="en-IN" sz="800" dirty="0"/>
                        <a:t>"Can I regenerate only the affected embeddings?" </a:t>
                      </a:r>
                    </a:p>
                    <a:p>
                      <a:pPr marL="171450" lvl="0" indent="-171450" algn="just">
                        <a:buFont typeface="Arial" panose="020B0604020202020204" pitchFamily="34" charset="0"/>
                        <a:buChar char="•"/>
                      </a:pPr>
                      <a:r>
                        <a:rPr lang="en-IN" sz="800" dirty="0"/>
                        <a:t>"How do I detect stale embeddings accurately?" </a:t>
                      </a:r>
                    </a:p>
                    <a:p>
                      <a:pPr marL="171450" lvl="0" indent="-171450" algn="just">
                        <a:buFont typeface="Arial" panose="020B0604020202020204" pitchFamily="34" charset="0"/>
                        <a:buChar char="•"/>
                      </a:pPr>
                      <a:r>
                        <a:rPr lang="en-IN" sz="800" dirty="0"/>
                        <a:t>"Will changing the embedding model break compatibility?" </a:t>
                      </a:r>
                    </a:p>
                    <a:p>
                      <a:pPr marL="171450" lvl="0" indent="-171450" algn="r">
                        <a:buFont typeface="Arial" panose="020B0604020202020204" pitchFamily="34" charset="0"/>
                        <a:buChar char="•"/>
                      </a:pPr>
                      <a:r>
                        <a:rPr lang="en-IN" sz="800" dirty="0"/>
                        <a:t>"There should be a Git-like system  for embeddings." </a:t>
                      </a:r>
                    </a:p>
                  </a:txBody>
                  <a:tcPr>
                    <a:solidFill>
                      <a:schemeClr val="bg2">
                        <a:lumMod val="20000"/>
                        <a:lumOff val="80000"/>
                      </a:schemeClr>
                    </a:solidFill>
                  </a:tcPr>
                </a:tc>
                <a:extLst>
                  <a:ext uri="{0D108BD9-81ED-4DB2-BD59-A6C34878D82A}">
                    <a16:rowId xmlns:a16="http://schemas.microsoft.com/office/drawing/2014/main" val="1973422374"/>
                  </a:ext>
                </a:extLst>
              </a:tr>
            </a:tbl>
          </a:graphicData>
        </a:graphic>
      </p:graphicFrame>
      <p:graphicFrame>
        <p:nvGraphicFramePr>
          <p:cNvPr id="35" name="Table 34">
            <a:extLst>
              <a:ext uri="{FF2B5EF4-FFF2-40B4-BE49-F238E27FC236}">
                <a16:creationId xmlns:a16="http://schemas.microsoft.com/office/drawing/2014/main" id="{6CE70130-1994-2731-0255-F35644025201}"/>
              </a:ext>
            </a:extLst>
          </p:cNvPr>
          <p:cNvGraphicFramePr>
            <a:graphicFrameLocks noGrp="1"/>
          </p:cNvGraphicFramePr>
          <p:nvPr>
            <p:extLst>
              <p:ext uri="{D42A27DB-BD31-4B8C-83A1-F6EECF244321}">
                <p14:modId xmlns:p14="http://schemas.microsoft.com/office/powerpoint/2010/main" val="3783276729"/>
              </p:ext>
            </p:extLst>
          </p:nvPr>
        </p:nvGraphicFramePr>
        <p:xfrm>
          <a:off x="146044" y="3708949"/>
          <a:ext cx="4236116" cy="1321445"/>
        </p:xfrm>
        <a:graphic>
          <a:graphicData uri="http://schemas.openxmlformats.org/drawingml/2006/table">
            <a:tbl>
              <a:tblPr firstRow="1" bandRow="1">
                <a:tableStyleId>{5C22544A-7EE6-4342-B048-85BDC9FD1C3A}</a:tableStyleId>
              </a:tblPr>
              <a:tblGrid>
                <a:gridCol w="2118058">
                  <a:extLst>
                    <a:ext uri="{9D8B030D-6E8A-4147-A177-3AD203B41FA5}">
                      <a16:colId xmlns:a16="http://schemas.microsoft.com/office/drawing/2014/main" val="1741489030"/>
                    </a:ext>
                  </a:extLst>
                </a:gridCol>
                <a:gridCol w="2118058">
                  <a:extLst>
                    <a:ext uri="{9D8B030D-6E8A-4147-A177-3AD203B41FA5}">
                      <a16:colId xmlns:a16="http://schemas.microsoft.com/office/drawing/2014/main" val="3466310529"/>
                    </a:ext>
                  </a:extLst>
                </a:gridCol>
              </a:tblGrid>
              <a:tr h="254645">
                <a:tc>
                  <a:txBody>
                    <a:bodyPr/>
                    <a:lstStyle/>
                    <a:p>
                      <a:pPr algn="ctr"/>
                      <a:r>
                        <a:rPr lang="en-IN" sz="1000" b="1" dirty="0"/>
                        <a:t>DOES</a:t>
                      </a:r>
                    </a:p>
                  </a:txBody>
                  <a:tcPr>
                    <a:solidFill>
                      <a:schemeClr val="bg2">
                        <a:lumMod val="75000"/>
                      </a:schemeClr>
                    </a:solidFill>
                  </a:tcPr>
                </a:tc>
                <a:tc>
                  <a:txBody>
                    <a:bodyPr/>
                    <a:lstStyle/>
                    <a:p>
                      <a:pPr algn="ctr"/>
                      <a:r>
                        <a:rPr lang="en-IN" sz="1000" b="1" dirty="0"/>
                        <a:t>FEELS</a:t>
                      </a:r>
                    </a:p>
                  </a:txBody>
                  <a:tcPr>
                    <a:solidFill>
                      <a:schemeClr val="bg2">
                        <a:lumMod val="75000"/>
                      </a:schemeClr>
                    </a:solidFill>
                  </a:tcPr>
                </a:tc>
                <a:extLst>
                  <a:ext uri="{0D108BD9-81ED-4DB2-BD59-A6C34878D82A}">
                    <a16:rowId xmlns:a16="http://schemas.microsoft.com/office/drawing/2014/main" val="169669668"/>
                  </a:ext>
                </a:extLst>
              </a:tr>
              <a:tr h="986750">
                <a:tc>
                  <a:txBody>
                    <a:bodyPr/>
                    <a:lstStyle/>
                    <a:p>
                      <a:pPr marL="171450" lvl="0" indent="-171450">
                        <a:buFont typeface="Arial" panose="020B0604020202020204" pitchFamily="34" charset="0"/>
                        <a:buChar char="•"/>
                      </a:pPr>
                      <a:endParaRPr lang="en-IN" sz="800" dirty="0"/>
                    </a:p>
                    <a:p>
                      <a:pPr marL="171450" lvl="0" indent="-171450">
                        <a:buFont typeface="Arial" panose="020B0604020202020204" pitchFamily="34" charset="0"/>
                        <a:buChar char="•"/>
                      </a:pPr>
                      <a:r>
                        <a:rPr lang="en-IN" sz="800" dirty="0"/>
                        <a:t>Regenerates embedding collections after document changes. </a:t>
                      </a:r>
                    </a:p>
                    <a:p>
                      <a:pPr marL="171450" lvl="0" indent="-171450">
                        <a:buFont typeface="Arial" panose="020B0604020202020204" pitchFamily="34" charset="0"/>
                        <a:buChar char="•"/>
                      </a:pPr>
                      <a:r>
                        <a:rPr lang="en-IN" sz="800" dirty="0"/>
                        <a:t>Updates vector databases manually. </a:t>
                      </a:r>
                    </a:p>
                    <a:p>
                      <a:pPr marL="171450" lvl="0" indent="-171450">
                        <a:buFont typeface="Arial" panose="020B0604020202020204" pitchFamily="34" charset="0"/>
                        <a:buChar char="•"/>
                      </a:pPr>
                      <a:r>
                        <a:rPr lang="en-IN" sz="800" dirty="0"/>
                        <a:t>Compares document and embedding versions. </a:t>
                      </a:r>
                    </a:p>
                    <a:p>
                      <a:pPr marL="171450" lvl="0" indent="-171450">
                        <a:buFont typeface="Arial" panose="020B0604020202020204" pitchFamily="34" charset="0"/>
                        <a:buChar char="•"/>
                      </a:pPr>
                      <a:r>
                        <a:rPr lang="en-IN" sz="800" dirty="0"/>
                        <a:t>Maintains metadata and configuration details.</a:t>
                      </a:r>
                    </a:p>
                  </a:txBody>
                  <a:tcPr>
                    <a:solidFill>
                      <a:schemeClr val="bg2">
                        <a:lumMod val="20000"/>
                        <a:lumOff val="80000"/>
                      </a:schemeClr>
                    </a:solidFill>
                  </a:tcPr>
                </a:tc>
                <a:tc>
                  <a:txBody>
                    <a:bodyPr/>
                    <a:lstStyle/>
                    <a:p>
                      <a:pPr marL="171450" lvl="0" indent="-171450">
                        <a:buFont typeface="Arial" panose="020B0604020202020204" pitchFamily="34" charset="0"/>
                        <a:buChar char="•"/>
                      </a:pPr>
                      <a:endParaRPr lang="en-IN" sz="800" dirty="0"/>
                    </a:p>
                    <a:p>
                      <a:pPr marL="171450" lvl="0" indent="-171450">
                        <a:buFont typeface="Arial" panose="020B0604020202020204" pitchFamily="34" charset="0"/>
                        <a:buChar char="•"/>
                      </a:pPr>
                      <a:r>
                        <a:rPr lang="en-IN" sz="800" dirty="0"/>
                        <a:t>Frustrated by long regeneration times. </a:t>
                      </a:r>
                    </a:p>
                    <a:p>
                      <a:pPr marL="171450" lvl="0" indent="-171450">
                        <a:buFont typeface="Arial" panose="020B0604020202020204" pitchFamily="34" charset="0"/>
                        <a:buChar char="•"/>
                      </a:pPr>
                      <a:r>
                        <a:rPr lang="en-IN" sz="800" dirty="0"/>
                        <a:t>Worried about losing reproducibility. </a:t>
                      </a:r>
                    </a:p>
                    <a:p>
                      <a:pPr marL="171450" lvl="0" indent="-171450">
                        <a:buFont typeface="Arial" panose="020B0604020202020204" pitchFamily="34" charset="0"/>
                        <a:buChar char="•"/>
                      </a:pPr>
                      <a:r>
                        <a:rPr lang="en-IN" sz="800" dirty="0"/>
                        <a:t>Unsure whether old embeddings are still valid. </a:t>
                      </a:r>
                    </a:p>
                    <a:p>
                      <a:pPr marL="171450" lvl="0" indent="-171450">
                        <a:buFont typeface="Arial" panose="020B0604020202020204" pitchFamily="34" charset="0"/>
                        <a:buChar char="•"/>
                      </a:pPr>
                      <a:r>
                        <a:rPr lang="en-IN" sz="800" dirty="0"/>
                        <a:t>Needs a faster, more reliable version control system.</a:t>
                      </a:r>
                    </a:p>
                  </a:txBody>
                  <a:tcPr>
                    <a:solidFill>
                      <a:schemeClr val="bg2">
                        <a:lumMod val="20000"/>
                        <a:lumOff val="80000"/>
                      </a:schemeClr>
                    </a:solidFill>
                  </a:tcPr>
                </a:tc>
                <a:extLst>
                  <a:ext uri="{0D108BD9-81ED-4DB2-BD59-A6C34878D82A}">
                    <a16:rowId xmlns:a16="http://schemas.microsoft.com/office/drawing/2014/main" val="1973422374"/>
                  </a:ext>
                </a:extLst>
              </a:tr>
            </a:tbl>
          </a:graphicData>
        </a:graphic>
      </p:graphicFrame>
      <p:sp>
        <p:nvSpPr>
          <p:cNvPr id="10" name="Oval 9">
            <a:extLst>
              <a:ext uri="{FF2B5EF4-FFF2-40B4-BE49-F238E27FC236}">
                <a16:creationId xmlns:a16="http://schemas.microsoft.com/office/drawing/2014/main" id="{B60398D4-640D-8C22-292A-B833E82B32E2}"/>
              </a:ext>
            </a:extLst>
          </p:cNvPr>
          <p:cNvSpPr/>
          <p:nvPr/>
        </p:nvSpPr>
        <p:spPr>
          <a:xfrm>
            <a:off x="1855674" y="3472190"/>
            <a:ext cx="816857" cy="576072"/>
          </a:xfrm>
          <a:prstGeom prst="ellipse">
            <a:avLst/>
          </a:prstGeom>
          <a:solidFill>
            <a:schemeClr val="bg2">
              <a:lumMod val="40000"/>
              <a:lumOff val="6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EEE486A-CF43-DBBB-8257-7F9F979B8383}"/>
              </a:ext>
            </a:extLst>
          </p:cNvPr>
          <p:cNvSpPr txBox="1"/>
          <p:nvPr/>
        </p:nvSpPr>
        <p:spPr>
          <a:xfrm>
            <a:off x="1865662" y="3579504"/>
            <a:ext cx="796879" cy="338554"/>
          </a:xfrm>
          <a:prstGeom prst="rect">
            <a:avLst/>
          </a:prstGeom>
          <a:noFill/>
        </p:spPr>
        <p:txBody>
          <a:bodyPr wrap="square" rtlCol="0">
            <a:spAutoFit/>
          </a:bodyPr>
          <a:lstStyle/>
          <a:p>
            <a:pPr algn="ctr"/>
            <a:r>
              <a:rPr lang="en-IN" sz="800" b="1" dirty="0"/>
              <a:t>AI/ML Engineer</a:t>
            </a:r>
          </a:p>
        </p:txBody>
      </p:sp>
      <p:pic>
        <p:nvPicPr>
          <p:cNvPr id="4" name="Picture 3">
            <a:extLst>
              <a:ext uri="{FF2B5EF4-FFF2-40B4-BE49-F238E27FC236}">
                <a16:creationId xmlns:a16="http://schemas.microsoft.com/office/drawing/2014/main" id="{177FE44D-7B77-90BC-FFBF-ECE0F8AE6798}"/>
              </a:ext>
            </a:extLst>
          </p:cNvPr>
          <p:cNvPicPr>
            <a:picLocks noChangeAspect="1"/>
          </p:cNvPicPr>
          <p:nvPr/>
        </p:nvPicPr>
        <p:blipFill>
          <a:blip r:embed="rId4"/>
          <a:stretch>
            <a:fillRect/>
          </a:stretch>
        </p:blipFill>
        <p:spPr>
          <a:xfrm>
            <a:off x="8851036" y="2086868"/>
            <a:ext cx="2774041" cy="306825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TotalTime>
  <Words>451</Words>
  <Application>Microsoft Office PowerPoint</Application>
  <PresentationFormat>Widescreen</PresentationFormat>
  <Paragraphs>72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Century</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Adwait Tagalpallewar</cp:lastModifiedBy>
  <cp:revision>13</cp:revision>
  <dcterms:modified xsi:type="dcterms:W3CDTF">2026-08-08T08:08:57Z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ies>
</file>