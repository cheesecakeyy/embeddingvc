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08b96e93444751" /><Relationship Type="http://schemas.openxmlformats.org/officeDocument/2006/relationships/extended-properties" Target="/docProps/app.xml" Id="R091c35c255c74b52" /><Relationship Type="http://schemas.openxmlformats.org/officeDocument/2006/relationships/officeDocument" Target="/ppt/presentation.xml" Id="Rcd6ff5225cb34f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a8ef6b5a0e4c79"/>
  </p:sldMasterIdLst>
  <p:notesMasterIdLst>
    <p:notesMasterId xmlns:r="http://schemas.openxmlformats.org/officeDocument/2006/relationships" r:id="Rf9db1e6a8aa94d95"/>
  </p:notesMasterIdLst>
  <p:sldIdLst>
    <p:sldId xmlns:r="http://schemas.openxmlformats.org/officeDocument/2006/relationships" id="256" r:id="R870c545c63e14c29"/>
    <p:sldId xmlns:r="http://schemas.openxmlformats.org/officeDocument/2006/relationships" id="257" r:id="R86e0631637b04305"/>
    <p:sldId xmlns:r="http://schemas.openxmlformats.org/officeDocument/2006/relationships" id="258" r:id="R077bda1ad57a4476"/>
    <p:sldId xmlns:r="http://schemas.openxmlformats.org/officeDocument/2006/relationships" id="259" r:id="R7b2f2e45b521473d"/>
    <p:sldId xmlns:r="http://schemas.openxmlformats.org/officeDocument/2006/relationships" id="260" r:id="R9c13228fd0bc4ae9"/>
    <p:sldId xmlns:r="http://schemas.openxmlformats.org/officeDocument/2006/relationships" id="261" r:id="R7ee9fef1a9f74d7f"/>
    <p:sldId xmlns:r="http://schemas.openxmlformats.org/officeDocument/2006/relationships" id="262" r:id="R6e58a468754d40b3"/>
    <p:sldId xmlns:r="http://schemas.openxmlformats.org/officeDocument/2006/relationships" id="263" r:id="R8aca9bec4a0a44d4"/>
    <p:sldId xmlns:r="http://schemas.openxmlformats.org/officeDocument/2006/relationships" id="264" r:id="R1965e86d73d242a3"/>
    <p:sldId xmlns:r="http://schemas.openxmlformats.org/officeDocument/2006/relationships" id="265" r:id="Re3074dd539794b8d"/>
    <p:sldId xmlns:r="http://schemas.openxmlformats.org/officeDocument/2006/relationships" id="266" r:id="R9786973f9c23469f"/>
    <p:sldId xmlns:r="http://schemas.openxmlformats.org/officeDocument/2006/relationships" id="267" r:id="R7d5b4b7359704bbd"/>
    <p:sldId xmlns:r="http://schemas.openxmlformats.org/officeDocument/2006/relationships" id="268" r:id="R20c12851ab214819"/>
    <p:sldId xmlns:r="http://schemas.openxmlformats.org/officeDocument/2006/relationships" id="269" r:id="R53d42b0993cd4a9c"/>
    <p:sldId xmlns:r="http://schemas.openxmlformats.org/officeDocument/2006/relationships" id="270" r:id="R9fce4c4aeaba40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b9bcd632d74d40" /><Relationship Type="http://schemas.openxmlformats.org/officeDocument/2006/relationships/slideMaster" Target="/ppt/slideMasters/slideMaster1.xml" Id="R07a8ef6b5a0e4c79" /><Relationship Type="http://schemas.openxmlformats.org/officeDocument/2006/relationships/notesMaster" Target="/ppt/notesMasters/notesMaster1.xml" Id="Rf9db1e6a8aa94d95" /><Relationship Type="http://schemas.openxmlformats.org/officeDocument/2006/relationships/presProps" Target="/ppt/presProps.xml" Id="R0527d2b544d14e16" /><Relationship Type="http://schemas.openxmlformats.org/officeDocument/2006/relationships/tableStyles" Target="/ppt/tableStyles.xml" Id="R0ceb7b11002f4402" /><Relationship Type="http://schemas.openxmlformats.org/officeDocument/2006/relationships/slide" Target="/ppt/slides/slide1.xml" Id="R870c545c63e14c29" /><Relationship Type="http://schemas.openxmlformats.org/officeDocument/2006/relationships/slide" Target="/ppt/slides/slide2.xml" Id="R86e0631637b04305" /><Relationship Type="http://schemas.openxmlformats.org/officeDocument/2006/relationships/slide" Target="/ppt/slides/slide3.xml" Id="R077bda1ad57a4476" /><Relationship Type="http://schemas.openxmlformats.org/officeDocument/2006/relationships/slide" Target="/ppt/slides/slide4.xml" Id="R7b2f2e45b521473d" /><Relationship Type="http://schemas.openxmlformats.org/officeDocument/2006/relationships/slide" Target="/ppt/slides/slide5.xml" Id="R9c13228fd0bc4ae9" /><Relationship Type="http://schemas.openxmlformats.org/officeDocument/2006/relationships/slide" Target="/ppt/slides/slide6.xml" Id="R7ee9fef1a9f74d7f" /><Relationship Type="http://schemas.openxmlformats.org/officeDocument/2006/relationships/slide" Target="/ppt/slides/slide7.xml" Id="R6e58a468754d40b3" /><Relationship Type="http://schemas.openxmlformats.org/officeDocument/2006/relationships/slide" Target="/ppt/slides/slide8.xml" Id="R8aca9bec4a0a44d4" /><Relationship Type="http://schemas.openxmlformats.org/officeDocument/2006/relationships/slide" Target="/ppt/slides/slide9.xml" Id="R1965e86d73d242a3" /><Relationship Type="http://schemas.openxmlformats.org/officeDocument/2006/relationships/slide" Target="/ppt/slides/slide10.xml" Id="Re3074dd539794b8d" /><Relationship Type="http://schemas.openxmlformats.org/officeDocument/2006/relationships/slide" Target="/ppt/slides/slide11.xml" Id="R9786973f9c23469f" /><Relationship Type="http://schemas.openxmlformats.org/officeDocument/2006/relationships/slide" Target="/ppt/slides/slide12.xml" Id="R7d5b4b7359704bbd" /><Relationship Type="http://schemas.openxmlformats.org/officeDocument/2006/relationships/slide" Target="/ppt/slides/slide13.xml" Id="R20c12851ab214819" /><Relationship Type="http://schemas.openxmlformats.org/officeDocument/2006/relationships/slide" Target="/ppt/slides/slide14.xml" Id="R53d42b0993cd4a9c" /><Relationship Type="http://schemas.openxmlformats.org/officeDocument/2006/relationships/slide" Target="/ppt/slides/slide15.xml" Id="R9fce4c4aeaba40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6b8d2150e946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3296c85b074e8b" /><Relationship Type="http://schemas.openxmlformats.org/officeDocument/2006/relationships/notesMaster" Target="/ppt/notesMasters/notesMaster1.xml" Id="Raac9ceda218549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188cc54ca9429d" /><Relationship Type="http://schemas.openxmlformats.org/officeDocument/2006/relationships/notesMaster" Target="/ppt/notesMasters/notesMaster1.xml" Id="R1453adcd1b884d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7392c632eb4b92" /><Relationship Type="http://schemas.openxmlformats.org/officeDocument/2006/relationships/notesMaster" Target="/ppt/notesMasters/notesMaster1.xml" Id="R0f44d05a5a3849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f9084b31964cf6" /><Relationship Type="http://schemas.openxmlformats.org/officeDocument/2006/relationships/notesMaster" Target="/ppt/notesMasters/notesMaster1.xml" Id="R0b594473313046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73a7693ca64e50" /><Relationship Type="http://schemas.openxmlformats.org/officeDocument/2006/relationships/notesMaster" Target="/ppt/notesMasters/notesMaster1.xml" Id="R5e59982315304d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53909a6edb4d44" /><Relationship Type="http://schemas.openxmlformats.org/officeDocument/2006/relationships/notesMaster" Target="/ppt/notesMasters/notesMaster1.xml" Id="Rac129c04b0d544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1053c9121c4a5f" /><Relationship Type="http://schemas.openxmlformats.org/officeDocument/2006/relationships/notesMaster" Target="/ppt/notesMasters/notesMaster1.xml" Id="R068547aaa4e943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de5a40a6a44d28" /><Relationship Type="http://schemas.openxmlformats.org/officeDocument/2006/relationships/notesMaster" Target="/ppt/notesMasters/notesMaster1.xml" Id="Rc3f7c59f70f443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0c560ef33942e8" /><Relationship Type="http://schemas.openxmlformats.org/officeDocument/2006/relationships/notesMaster" Target="/ppt/notesMasters/notesMaster1.xml" Id="R36a5d7b685a74b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279c6b954f48fa" /><Relationship Type="http://schemas.openxmlformats.org/officeDocument/2006/relationships/notesMaster" Target="/ppt/notesMasters/notesMaster1.xml" Id="R5e2027b5e22747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2eee0e4ebd4687" /><Relationship Type="http://schemas.openxmlformats.org/officeDocument/2006/relationships/notesMaster" Target="/ppt/notesMasters/notesMaster1.xml" Id="R8022ca1b99cb42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0856f105224612" /><Relationship Type="http://schemas.openxmlformats.org/officeDocument/2006/relationships/notesMaster" Target="/ppt/notesMasters/notesMaster1.xml" Id="R19362f3ad8de4e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fcbeb04a6ea4ec3" /><Relationship Type="http://schemas.openxmlformats.org/officeDocument/2006/relationships/notesMaster" Target="/ppt/notesMasters/notesMaster1.xml" Id="R026413427dac41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d735d6ff0bc401b" /><Relationship Type="http://schemas.openxmlformats.org/officeDocument/2006/relationships/notesMaster" Target="/ppt/notesMasters/notesMaster1.xml" Id="Rc55f159b17d545b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691f07ca6ce4928" /><Relationship Type="http://schemas.openxmlformats.org/officeDocument/2006/relationships/notesMaster" Target="/ppt/notesMasters/notesMaster1.xml" Id="R7e51c5d1ab954f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source: PBL Documents/PBL_Synopsis_Git_for_Embeddingsv1.docx</a:t>
            </a:r>
          </a:p>
          <a:p xmlns:a="http://schemas.openxmlformats.org/drawingml/2006/main">
            <a:r>
              <a:t>- OpenAI-generated visual: tmp/pptx/assets/embedding-hero.png; prompt recorded in tmp/pptx/source-notes.txt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source: README.md, sections Why EmbedGit? and Problem statement</a:t>
            </a:r>
          </a:p>
          <a:p xmlns:a="http://schemas.openxmlformats.org/drawingml/2006/main">
            <a:r>
              <a:t>- Local project source: PBL Documents/PBL_Synopsis_Git_for_Embeddingsv1.docx, sections 3-4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source: README.md, project overview and applications</a:t>
            </a:r>
          </a:p>
          <a:p xmlns:a="http://schemas.openxmlformats.org/drawingml/2006/main">
            <a:r>
              <a:t>- Local project source: output/docx/Embeddings_and_Vector_Spaces_Team_Primer.docx, section Where embeddings are used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source: Git for Embeddings Project.pdf, Important Research Boundary and Semantic drift detection</a:t>
            </a:r>
          </a:p>
          <a:p xmlns:a="http://schemas.openxmlformats.org/drawingml/2006/main">
            <a:r>
              <a:t>- Illustrative scenario authored for explanation; no benchmark result or observed user incident is claimed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source: Git for Embeddings Project.pdf, example use case</a:t>
            </a:r>
          </a:p>
          <a:p xmlns:a="http://schemas.openxmlformats.org/drawingml/2006/main">
            <a:r>
              <a:t>- Local project source: README.md, Illustrative university-notes use case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source: README.md, What is versioned?</a:t>
            </a:r>
          </a:p>
          <a:p xmlns:a="http://schemas.openxmlformats.org/drawingml/2006/main">
            <a:r>
              <a:t>- Local project source: Git for Embeddings Project.pdf, README requirements and research boundary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source: README.md, Architecture and Core components</a:t>
            </a:r>
          </a:p>
          <a:p xmlns:a="http://schemas.openxmlformats.org/drawingml/2006/main">
            <a:r>
              <a:t>- Local project source: PBL Documents/PBL_Synopsis_Git_for_Embeddingsv1.docx, Proposed system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source: README.md, Workflow</a:t>
            </a:r>
          </a:p>
          <a:p xmlns:a="http://schemas.openxmlformats.org/drawingml/2006/main">
            <a:r>
              <a:t>- Local project source: Git for Embeddings Project.pdf, proposed workflow and change detection strategy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source: README.md, Versioning and invalidation rules</a:t>
            </a:r>
          </a:p>
          <a:p xmlns:a="http://schemas.openxmlformats.org/drawingml/2006/main">
            <a:r>
              <a:t>- Local project source: Git for Embeddings Project.pdf, Important research boundary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source: README.md, Git-to-embedding mapping</a:t>
            </a:r>
          </a:p>
          <a:p xmlns:a="http://schemas.openxmlformats.org/drawingml/2006/main">
            <a:r>
              <a:t>- Local project source: Git for Embeddings Project.pdf, Git-inspired concepts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source: README.md, Objectives and scope / Technology stack</a:t>
            </a:r>
          </a:p>
          <a:p xmlns:a="http://schemas.openxmlformats.org/drawingml/2006/main">
            <a:r>
              <a:t>- Local project source: PBL Documents/PBL_Synopsis_Git_for_Embeddingsv1.docx, Scope and System requirements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source: README.md, Experimental methodology</a:t>
            </a:r>
          </a:p>
          <a:p xmlns:a="http://schemas.openxmlformats.org/drawingml/2006/main">
            <a:r>
              <a:t>- Local project source: Git for Embeddings Project.pdf, Experimental evaluation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source: README.md, Evaluation metrics and Expected results</a:t>
            </a:r>
          </a:p>
          <a:p xmlns:a="http://schemas.openxmlformats.org/drawingml/2006/main">
            <a:r>
              <a:t>- Local project source: Git for Embeddings Project.pdf, Evaluation metrics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source: README.md, Semester roadmap and Project status</a:t>
            </a:r>
          </a:p>
          <a:p xmlns:a="http://schemas.openxmlformats.org/drawingml/2006/main">
            <a:r>
              <a:t>- Local folder inspection on 2026-08-08: documentation files present; no source implementation tree found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source: README.md, Research contribution and Limitations</a:t>
            </a:r>
          </a:p>
          <a:p xmlns:a="http://schemas.openxmlformats.org/drawingml/2006/main">
            <a:r>
              <a:t>- Local project source: PBL Documents/PBL_Synopsis_Git_for_Embeddingsv1.docx, Expected outcome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a75a5ff4ae4b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d6824886dd489d" /><Relationship Type="http://schemas.openxmlformats.org/officeDocument/2006/relationships/slideLayout" Target="/ppt/slideLayouts/slideLayout1.xml" Id="R4fc4359a998643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c4359a998643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6482b41734954" /><Relationship Type="http://schemas.openxmlformats.org/officeDocument/2006/relationships/image" Target="/ppt/media/image.png" Id="R75bd611df0e94a3c" /><Relationship Type="http://schemas.openxmlformats.org/officeDocument/2006/relationships/notesSlide" Target="/ppt/notesSlides/notesSlide1.xml" Id="Rd41a480482be4e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ee486749d4551" /><Relationship Type="http://schemas.openxmlformats.org/officeDocument/2006/relationships/notesSlide" Target="/ppt/notesSlides/notesSlide2.xml" Id="Re8a1ba26075140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bdeb2e4c74b4d" /><Relationship Type="http://schemas.openxmlformats.org/officeDocument/2006/relationships/notesSlide" Target="/ppt/notesSlides/notesSlide3.xml" Id="R05dd990864ab44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88ace5f4c4037" /><Relationship Type="http://schemas.openxmlformats.org/officeDocument/2006/relationships/notesSlide" Target="/ppt/notesSlides/notesSlide4.xml" Id="Rd2c28a2414a44c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cddffd3f241b8" /><Relationship Type="http://schemas.openxmlformats.org/officeDocument/2006/relationships/notesSlide" Target="/ppt/notesSlides/notesSlide5.xml" Id="Rb02df1cdff8548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343f546364f83" /><Relationship Type="http://schemas.openxmlformats.org/officeDocument/2006/relationships/notesSlide" Target="/ppt/notesSlides/notesSlide6.xml" Id="Re55afb3e313a41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843c0a5d24a67" /><Relationship Type="http://schemas.openxmlformats.org/officeDocument/2006/relationships/notesSlide" Target="/ppt/notesSlides/notesSlide7.xml" Id="R133c6ab3d5db40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b9b3406444527" /><Relationship Type="http://schemas.openxmlformats.org/officeDocument/2006/relationships/notesSlide" Target="/ppt/notesSlides/notesSlide8.xml" Id="R4dbeeb8105df4d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fca4d47a24e38" /><Relationship Type="http://schemas.openxmlformats.org/officeDocument/2006/relationships/notesSlide" Target="/ppt/notesSlides/notesSlide9.xml" Id="Rcf379e11b74d45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f01a0b7e2400f" /><Relationship Type="http://schemas.openxmlformats.org/officeDocument/2006/relationships/notesSlide" Target="/ppt/notesSlides/notesSlide10.xml" Id="R0c587fab807745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8a4fa6eff4ae8" /><Relationship Type="http://schemas.openxmlformats.org/officeDocument/2006/relationships/notesSlide" Target="/ppt/notesSlides/notesSlide11.xml" Id="Re5127715a3cd4f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0fd6dbe354dcc" /><Relationship Type="http://schemas.openxmlformats.org/officeDocument/2006/relationships/notesSlide" Target="/ppt/notesSlides/notesSlide12.xml" Id="R628905f1f4e049b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4f3f434f143f8" /><Relationship Type="http://schemas.openxmlformats.org/officeDocument/2006/relationships/notesSlide" Target="/ppt/notesSlides/notesSlide13.xml" Id="R7ebdaaf631474f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2d3e9fb444ee9" /><Relationship Type="http://schemas.openxmlformats.org/officeDocument/2006/relationships/notesSlide" Target="/ppt/notesSlides/notesSlide14.xml" Id="Rf41d71f451ee4b3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06daa801744c1" /><Relationship Type="http://schemas.openxmlformats.org/officeDocument/2006/relationships/notesSlide" Target="/ppt/notesSlides/notesSlide15.xml" Id="R0d4ba3c6a3d04c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bd611df0e94a3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overlay">
            <a:extLst xmlns:a="http://schemas.openxmlformats.org/drawingml/2006/main">
              <a:ext uri="{FF2B5EF4-FFF2-40B4-BE49-F238E27FC236}">
                <a16:creationId xmlns:a16="http://schemas.microsoft.com/office/drawing/2014/main" id="{73CDFFA6-35FB-412A-B7CF-B0ED1676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C7D53D44-80B7-40C1-9F22-206E28AF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EE8EA"/>
                </a:solidFill>
              </a:defRPr>
            </a:pPr>
            <a:r>
              <a:rPr sz="1125" b="1" i="0">
                <a:solidFill>
                  <a:srgbClr val="8EE8EA"/>
                </a:solidFill>
              </a:rPr>
              <a:t>SEMESTER PBL  |  GROUP TYAIA116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8D96A69-FAEB-4A37-9CA3-7ECF02E6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FFFFFF"/>
                </a:solidFill>
              </a:defRPr>
            </a:pPr>
            <a:r>
              <a:rPr sz="4650" b="1" i="0">
                <a:solidFill>
                  <a:srgbClr val="FFFFFF"/>
                </a:solidFill>
              </a:rPr>
              <a:t>Git for</a:t>
            </a:r>
          </a:p>
          <a:p xmlns:a="http://schemas.openxmlformats.org/drawingml/2006/main">
            <a:pPr algn="l">
              <a:defRPr sz="4650" b="1" i="0">
                <a:solidFill>
                  <a:srgbClr val="FFFFFF"/>
                </a:solidFill>
              </a:defRPr>
            </a:pPr>
            <a:r>
              <a:rPr sz="4650" b="1" i="0">
                <a:solidFill>
                  <a:srgbClr val="FFFFFF"/>
                </a:solidFill>
              </a:rPr>
              <a:t>Embeddings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A92D127-A4CC-4240-B373-374F0438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D8E7F3"/>
                </a:solidFill>
              </a:defRPr>
            </a:pPr>
            <a:r>
              <a:rPr sz="1725" b="0" i="0">
                <a:solidFill>
                  <a:srgbClr val="D8E7F3"/>
                </a:solidFill>
              </a:rPr>
              <a:t>Version control and incremental lifecycle management for vector embeddings</a:t>
            </a:r>
          </a:p>
        </p:txBody>
      </p:sp>
      <p:sp>
        <p:nvSpPr>
          <p:cNvPr id="6" name="cover-team">
            <a:extLst xmlns:a="http://schemas.openxmlformats.org/drawingml/2006/main">
              <a:ext uri="{FF2B5EF4-FFF2-40B4-BE49-F238E27FC236}">
                <a16:creationId xmlns:a16="http://schemas.microsoft.com/office/drawing/2014/main" id="{6EEA2B7C-35A6-4DB2-9E4B-62EDD147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340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Adwait Tagalpallewar  |  Sagar Shahgond  |  Archit Bankey  |  Parth Verma</a:t>
            </a:r>
          </a:p>
        </p:txBody>
      </p:sp>
      <p:sp>
        <p:nvSpPr>
          <p:cNvPr id="7" name="cover-guide">
            <a:extLst xmlns:a="http://schemas.openxmlformats.org/drawingml/2006/main">
              <a:ext uri="{FF2B5EF4-FFF2-40B4-BE49-F238E27FC236}">
                <a16:creationId xmlns:a16="http://schemas.microsoft.com/office/drawing/2014/main" id="{035DA1C9-EEBD-4873-8E16-206988AE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15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7CADC"/>
                </a:solidFill>
              </a:defRPr>
            </a:pPr>
            <a:r>
              <a:rPr sz="975" b="0" i="0">
                <a:solidFill>
                  <a:srgbClr val="B7CADC"/>
                </a:solidFill>
              </a:rPr>
              <a:t>Under the guidance of Prof. Dr. Nagesh Jadhav</a:t>
            </a:r>
          </a:p>
        </p:txBody>
      </p:sp>
    </p:spTree>
    <p:extLst>
      <p:ext uri="{BB962C8B-B14F-4D97-AF65-F5344CB8AC3E}">
        <p14:creationId xmlns:p14="http://schemas.microsoft.com/office/powerpoint/2010/main" val="13856846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2">
            <a:extLst xmlns:a="http://schemas.openxmlformats.org/drawingml/2006/main">
              <a:ext uri="{FF2B5EF4-FFF2-40B4-BE49-F238E27FC236}">
                <a16:creationId xmlns:a16="http://schemas.microsoft.com/office/drawing/2014/main" id="{6D980B14-68C3-4AEC-9BF6-77B7BD7D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A5A8"/>
                </a:solidFill>
              </a:defRPr>
            </a:pPr>
            <a:r>
              <a:rPr sz="975" b="1" i="0">
                <a:solidFill>
                  <a:srgbClr val="0EA5A8"/>
                </a:solidFill>
              </a:rPr>
              <a:t>THE PROBLEM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F038A075-8821-4D83-BCF9-38621CD8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A small document change can trigger a full vector rebuild</a:t>
            </a:r>
          </a:p>
        </p:txBody>
      </p:sp>
      <p:sp>
        <p:nvSpPr>
          <p:cNvPr id="3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BCC945A3-67E4-45D9-B1D5-C5F3F598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E8BE2A98-1600-40EA-854A-624E2F8D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7D98"/>
                </a:solidFill>
              </a:defRPr>
            </a:pPr>
            <a:r>
              <a:rPr sz="825" b="1" i="0">
                <a:solidFill>
                  <a:srgbClr val="627D98"/>
                </a:solidFill>
              </a:rPr>
              <a:t>GIT FOR EMBEDDINGS  |  SEMESTER PBL</a:t>
            </a:r>
          </a:p>
        </p:txBody>
      </p:sp>
      <p:sp>
        <p:nvSpPr>
          <p:cNvPr id="5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827C9835-5CED-425C-AA03-DF6129ED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D98"/>
                </a:solidFill>
              </a:defRPr>
            </a:pPr>
            <a:r>
              <a:rPr sz="900" b="0" i="0">
                <a:solidFill>
                  <a:srgbClr val="627D98"/>
                </a:solidFill>
              </a:rPr>
              <a:t>2</a:t>
            </a:r>
          </a:p>
        </p:txBody>
      </p:sp>
      <p:sp>
        <p:nvSpPr>
          <p:cNvPr id="6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B8450967-6DDF-4D14-A9D9-F90BD8F2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43B53"/>
                </a:solidFill>
              </a:defRPr>
            </a:pPr>
            <a:r>
              <a:rPr sz="1875" b="1" i="0">
                <a:solidFill>
                  <a:srgbClr val="243B53"/>
                </a:solidFill>
              </a:rPr>
              <a:t>Embeddings are derived artifacts. They become outdated when source content, chunking, preprocessing, metadata, or the model changes.</a:t>
            </a:r>
          </a:p>
        </p:txBody>
      </p:sp>
      <p:sp>
        <p:nvSpPr>
          <p:cNvPr id="7" name="problem-b1-dot">
            <a:extLst xmlns:a="http://schemas.openxmlformats.org/drawingml/2006/main">
              <a:ext uri="{FF2B5EF4-FFF2-40B4-BE49-F238E27FC236}">
                <a16:creationId xmlns:a16="http://schemas.microsoft.com/office/drawing/2014/main" id="{4C1DAE1C-4145-4411-A9C4-33213A26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blem-b1">
            <a:extLst xmlns:a="http://schemas.openxmlformats.org/drawingml/2006/main">
              <a:ext uri="{FF2B5EF4-FFF2-40B4-BE49-F238E27FC236}">
                <a16:creationId xmlns:a16="http://schemas.microsoft.com/office/drawing/2014/main" id="{A8991558-5889-49A7-92C3-EBAB9438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Teams often regenerate every vector</a:t>
            </a:r>
          </a:p>
        </p:txBody>
      </p:sp>
      <p:sp>
        <p:nvSpPr>
          <p:cNvPr id="9" name="problem-b2-dot">
            <a:extLst xmlns:a="http://schemas.openxmlformats.org/drawingml/2006/main">
              <a:ext uri="{FF2B5EF4-FFF2-40B4-BE49-F238E27FC236}">
                <a16:creationId xmlns:a16="http://schemas.microsoft.com/office/drawing/2014/main" id="{3A0C591F-DEFA-4417-B46C-781ECB95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blem-b2">
            <a:extLst xmlns:a="http://schemas.openxmlformats.org/drawingml/2006/main">
              <a:ext uri="{FF2B5EF4-FFF2-40B4-BE49-F238E27FC236}">
                <a16:creationId xmlns:a16="http://schemas.microsoft.com/office/drawing/2014/main" id="{2E2CC7E6-E046-44C8-A65D-FF346DD5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Old states are hard to reproduce or restore</a:t>
            </a:r>
          </a:p>
        </p:txBody>
      </p:sp>
      <p:sp>
        <p:nvSpPr>
          <p:cNvPr id="11" name="problem-b3-dot">
            <a:extLst xmlns:a="http://schemas.openxmlformats.org/drawingml/2006/main">
              <a:ext uri="{FF2B5EF4-FFF2-40B4-BE49-F238E27FC236}">
                <a16:creationId xmlns:a16="http://schemas.microsoft.com/office/drawing/2014/main" id="{C4B4ABBC-CBEC-40F9-890E-60CD464D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blem-b3">
            <a:extLst xmlns:a="http://schemas.openxmlformats.org/drawingml/2006/main">
              <a:ext uri="{FF2B5EF4-FFF2-40B4-BE49-F238E27FC236}">
                <a16:creationId xmlns:a16="http://schemas.microsoft.com/office/drawing/2014/main" id="{B53C353D-3093-4307-9E71-92D05B41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Model and preprocessing provenance is easily lost</a:t>
            </a:r>
          </a:p>
        </p:txBody>
      </p:sp>
      <p:sp>
        <p:nvSpPr>
          <p:cNvPr id="13" name="problem-field">
            <a:extLst xmlns:a="http://schemas.openxmlformats.org/drawingml/2006/main">
              <a:ext uri="{FF2B5EF4-FFF2-40B4-BE49-F238E27FC236}">
                <a16:creationId xmlns:a16="http://schemas.microsoft.com/office/drawing/2014/main" id="{9E8B25BC-9F62-48B3-A9D2-E7C2D9C4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33500"/>
            <a:ext cx="51911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oblem-field-title">
            <a:extLst xmlns:a="http://schemas.openxmlformats.org/drawingml/2006/main">
              <a:ext uri="{FF2B5EF4-FFF2-40B4-BE49-F238E27FC236}">
                <a16:creationId xmlns:a16="http://schemas.microsoft.com/office/drawing/2014/main" id="{6EFFD958-5DA2-4FF5-9210-F6902F00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2A43"/>
                </a:solidFill>
              </a:defRPr>
            </a:pPr>
            <a:r>
              <a:rPr sz="1950" b="1" i="0">
                <a:solidFill>
                  <a:srgbClr val="102A43"/>
                </a:solidFill>
              </a:rPr>
              <a:t>Today: rebuild or overwrite</a:t>
            </a:r>
          </a:p>
        </p:txBody>
      </p:sp>
      <p:sp>
        <p:nvSpPr>
          <p:cNvPr id="15" name="problem-docs">
            <a:extLst xmlns:a="http://schemas.openxmlformats.org/drawingml/2006/main">
              <a:ext uri="{FF2B5EF4-FFF2-40B4-BE49-F238E27FC236}">
                <a16:creationId xmlns:a16="http://schemas.microsoft.com/office/drawing/2014/main" id="{31BAF488-9E46-44C3-BB5D-045B95CF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1428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CD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Changed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documents</a:t>
            </a:r>
          </a:p>
        </p:txBody>
      </p:sp>
      <p:sp>
        <p:nvSpPr>
          <p:cNvPr id="16" name="problem-all">
            <a:extLst xmlns:a="http://schemas.openxmlformats.org/drawingml/2006/main">
              <a:ext uri="{FF2B5EF4-FFF2-40B4-BE49-F238E27FC236}">
                <a16:creationId xmlns:a16="http://schemas.microsoft.com/office/drawing/2014/main" id="{2FC4F9AD-EF3D-413C-9255-5BC6254C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717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Regenerate</a:t>
            </a:r>
          </a:p>
          <a:p xmlns:a="http://schemas.openxmlformats.org/drawingml/2006/main">
            <a:pPr algn="ctr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all vectors</a:t>
            </a:r>
          </a:p>
        </p:txBody>
      </p:sp>
      <p:sp>
        <p:nvSpPr>
          <p:cNvPr id="17" name="problem-store">
            <a:extLst xmlns:a="http://schemas.openxmlformats.org/drawingml/2006/main">
              <a:ext uri="{FF2B5EF4-FFF2-40B4-BE49-F238E27FC236}">
                <a16:creationId xmlns:a16="http://schemas.microsoft.com/office/drawing/2014/main" id="{E4DD5EE1-5EED-4919-A56F-FAA6FEC2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91000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CD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Overwrite / new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collection</a:t>
            </a:r>
          </a:p>
        </p:txBody>
      </p:sp>
      <p:cxnSp>
        <p:nvCxnSpPr>
          <p:cNvPr id="38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191500" y="30003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7706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8858250" y="3429000"/>
            <a:ext cx="619125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97706"/>
            </a:solidFill>
            <a:prstDash val="solid"/>
            <a:tailEnd type="arrow" w="med" len="med"/>
          </a:ln>
        </p:spPr>
      </p:cxnSp>
      <p:sp>
        <p:nvSpPr>
          <p:cNvPr id="20" name="problem-tag">
            <a:extLst xmlns:a="http://schemas.openxmlformats.org/drawingml/2006/main">
              <a:ext uri="{FF2B5EF4-FFF2-40B4-BE49-F238E27FC236}">
                <a16:creationId xmlns:a16="http://schemas.microsoft.com/office/drawing/2014/main" id="{B0FA541C-2213-47E0-B664-35B1E5EA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334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D97706"/>
                </a:solidFill>
              </a:defRPr>
            </a:pPr>
            <a:r>
              <a:rPr sz="1200" b="1" i="0">
                <a:solidFill>
                  <a:srgbClr val="D97706"/>
                </a:solidFill>
              </a:rPr>
              <a:t>Correct - but often unnecessarily expensive</a:t>
            </a:r>
          </a:p>
        </p:txBody>
      </p:sp>
    </p:spTree>
    <p:extLst>
      <p:ext uri="{BB962C8B-B14F-4D97-AF65-F5344CB8AC3E}">
        <p14:creationId xmlns:p14="http://schemas.microsoft.com/office/powerpoint/2010/main" val="10950621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3">
            <a:extLst xmlns:a="http://schemas.openxmlformats.org/drawingml/2006/main">
              <a:ext uri="{FF2B5EF4-FFF2-40B4-BE49-F238E27FC236}">
                <a16:creationId xmlns:a16="http://schemas.microsoft.com/office/drawing/2014/main" id="{25770502-3F3A-4A53-8AE8-80FF9B6A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A5A8"/>
                </a:solidFill>
              </a:defRPr>
            </a:pPr>
            <a:r>
              <a:rPr sz="975" b="1" i="0">
                <a:solidFill>
                  <a:srgbClr val="0EA5A8"/>
                </a:solidFill>
              </a:rPr>
              <a:t>WHY IT MATTERS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A1BE1EB4-E1C4-47D8-AE59-1AED10AD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The same lifecycle problem appears across embedding-powered AI</a:t>
            </a:r>
          </a:p>
        </p:txBody>
      </p:sp>
      <p:sp>
        <p:nvSpPr>
          <p:cNvPr id="3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DBA8B4DC-098E-4362-AB5C-EAEBDF07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BB24EB8A-1F66-4699-BA07-D9346D7A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7D98"/>
                </a:solidFill>
              </a:defRPr>
            </a:pPr>
            <a:r>
              <a:rPr sz="825" b="1" i="0">
                <a:solidFill>
                  <a:srgbClr val="627D98"/>
                </a:solidFill>
              </a:rPr>
              <a:t>GIT FOR EMBEDDINGS  |  SEMESTER PBL</a:t>
            </a:r>
          </a:p>
        </p:txBody>
      </p:sp>
      <p:sp>
        <p:nvSpPr>
          <p:cNvPr id="5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2EE7A264-79AD-4B27-BCD0-9994458A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D98"/>
                </a:solidFill>
              </a:defRPr>
            </a:pPr>
            <a:r>
              <a:rPr sz="900" b="0" i="0">
                <a:solidFill>
                  <a:srgbClr val="627D98"/>
                </a:solidFill>
              </a:rPr>
              <a:t>3</a:t>
            </a:r>
          </a:p>
        </p:txBody>
      </p:sp>
      <p:sp>
        <p:nvSpPr>
          <p:cNvPr id="6" name="apps-intro">
            <a:extLst xmlns:a="http://schemas.openxmlformats.org/drawingml/2006/main">
              <a:ext uri="{FF2B5EF4-FFF2-40B4-BE49-F238E27FC236}">
                <a16:creationId xmlns:a16="http://schemas.microsoft.com/office/drawing/2014/main" id="{3FD26CB2-DC5F-4356-9D4D-EAEDA911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27D98"/>
                </a:solidFill>
              </a:defRPr>
            </a:pPr>
            <a:r>
              <a:rPr sz="1650" b="0" i="0">
                <a:solidFill>
                  <a:srgbClr val="627D98"/>
                </a:solidFill>
              </a:rPr>
              <a:t>These systems depend on fresh, comparable, reproducible vectors.</a:t>
            </a:r>
          </a:p>
        </p:txBody>
      </p:sp>
      <p:sp>
        <p:nvSpPr>
          <p:cNvPr id="7" name="apps-rule-0">
            <a:extLst xmlns:a="http://schemas.openxmlformats.org/drawingml/2006/main">
              <a:ext uri="{FF2B5EF4-FFF2-40B4-BE49-F238E27FC236}">
                <a16:creationId xmlns:a16="http://schemas.microsoft.com/office/drawing/2014/main" id="{141C8FF0-2390-4222-8869-B14011A8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43125"/>
            <a:ext cx="3257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pps-title-0">
            <a:extLst xmlns:a="http://schemas.openxmlformats.org/drawingml/2006/main">
              <a:ext uri="{FF2B5EF4-FFF2-40B4-BE49-F238E27FC236}">
                <a16:creationId xmlns:a16="http://schemas.microsoft.com/office/drawing/2014/main" id="{AC76A00A-C841-4E4A-A94C-1F8A145F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28875"/>
            <a:ext cx="3257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2A43"/>
                </a:solidFill>
              </a:defRPr>
            </a:pPr>
            <a:r>
              <a:rPr sz="2250" b="1" i="0">
                <a:solidFill>
                  <a:srgbClr val="102A43"/>
                </a:solidFill>
              </a:rPr>
              <a:t>RAG</a:t>
            </a:r>
          </a:p>
        </p:txBody>
      </p:sp>
      <p:sp>
        <p:nvSpPr>
          <p:cNvPr id="9" name="apps-body-0">
            <a:extLst xmlns:a="http://schemas.openxmlformats.org/drawingml/2006/main">
              <a:ext uri="{FF2B5EF4-FFF2-40B4-BE49-F238E27FC236}">
                <a16:creationId xmlns:a16="http://schemas.microsoft.com/office/drawing/2014/main" id="{D6F6BF18-FC9C-4F3B-9400-2B624DF4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9087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Retrieve trusted context before an LLM answers.</a:t>
            </a:r>
          </a:p>
        </p:txBody>
      </p:sp>
      <p:sp>
        <p:nvSpPr>
          <p:cNvPr id="10" name="apps-rule-1">
            <a:extLst xmlns:a="http://schemas.openxmlformats.org/drawingml/2006/main">
              <a:ext uri="{FF2B5EF4-FFF2-40B4-BE49-F238E27FC236}">
                <a16:creationId xmlns:a16="http://schemas.microsoft.com/office/drawing/2014/main" id="{47A5A03F-DD07-4E2A-95EA-BFFA1FEC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3257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pps-title-1">
            <a:extLst xmlns:a="http://schemas.openxmlformats.org/drawingml/2006/main">
              <a:ext uri="{FF2B5EF4-FFF2-40B4-BE49-F238E27FC236}">
                <a16:creationId xmlns:a16="http://schemas.microsoft.com/office/drawing/2014/main" id="{63747F7D-0791-46F8-98D1-3CDB7C10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28875"/>
            <a:ext cx="3257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2A43"/>
                </a:solidFill>
              </a:defRPr>
            </a:pPr>
            <a:r>
              <a:rPr sz="2250" b="1" i="0">
                <a:solidFill>
                  <a:srgbClr val="102A43"/>
                </a:solidFill>
              </a:rPr>
              <a:t>Semantic search</a:t>
            </a:r>
          </a:p>
        </p:txBody>
      </p:sp>
      <p:sp>
        <p:nvSpPr>
          <p:cNvPr id="12" name="apps-body-1">
            <a:extLst xmlns:a="http://schemas.openxmlformats.org/drawingml/2006/main">
              <a:ext uri="{FF2B5EF4-FFF2-40B4-BE49-F238E27FC236}">
                <a16:creationId xmlns:a16="http://schemas.microsoft.com/office/drawing/2014/main" id="{C54A76F2-E3E1-4053-8004-4AEAAB25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9087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Find meaning even when the words differ.</a:t>
            </a:r>
          </a:p>
        </p:txBody>
      </p:sp>
      <p:sp>
        <p:nvSpPr>
          <p:cNvPr id="13" name="apps-rule-2">
            <a:extLst xmlns:a="http://schemas.openxmlformats.org/drawingml/2006/main">
              <a:ext uri="{FF2B5EF4-FFF2-40B4-BE49-F238E27FC236}">
                <a16:creationId xmlns:a16="http://schemas.microsoft.com/office/drawing/2014/main" id="{147C5010-6684-4F67-8CE7-B3F1EBCE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3257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pps-title-2">
            <a:extLst xmlns:a="http://schemas.openxmlformats.org/drawingml/2006/main">
              <a:ext uri="{FF2B5EF4-FFF2-40B4-BE49-F238E27FC236}">
                <a16:creationId xmlns:a16="http://schemas.microsoft.com/office/drawing/2014/main" id="{442F5784-C735-43C4-BD16-31599A63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28875"/>
            <a:ext cx="3257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2A43"/>
                </a:solidFill>
              </a:defRPr>
            </a:pPr>
            <a:r>
              <a:rPr sz="2250" b="1" i="0">
                <a:solidFill>
                  <a:srgbClr val="102A43"/>
                </a:solidFill>
              </a:rPr>
              <a:t>Recommendations</a:t>
            </a:r>
          </a:p>
        </p:txBody>
      </p:sp>
      <p:sp>
        <p:nvSpPr>
          <p:cNvPr id="15" name="apps-body-2">
            <a:extLst xmlns:a="http://schemas.openxmlformats.org/drawingml/2006/main">
              <a:ext uri="{FF2B5EF4-FFF2-40B4-BE49-F238E27FC236}">
                <a16:creationId xmlns:a16="http://schemas.microsoft.com/office/drawing/2014/main" id="{88ECC8E9-49CD-4639-BF2B-72DB34F5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9087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Match users, products, or content by learned similarity.</a:t>
            </a:r>
          </a:p>
        </p:txBody>
      </p:sp>
      <p:sp>
        <p:nvSpPr>
          <p:cNvPr id="16" name="apps-conclusion">
            <a:extLst xmlns:a="http://schemas.openxmlformats.org/drawingml/2006/main">
              <a:ext uri="{FF2B5EF4-FFF2-40B4-BE49-F238E27FC236}">
                <a16:creationId xmlns:a16="http://schemas.microsoft.com/office/drawing/2014/main" id="{1A547456-D1C2-4A61-8D47-ED8A7E85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02A43"/>
                </a:solidFill>
              </a:defRPr>
            </a:pPr>
            <a:r>
              <a:rPr sz="2100" b="1" i="0">
                <a:solidFill>
                  <a:srgbClr val="102A43"/>
                </a:solidFill>
              </a:rPr>
              <a:t>If the vectors are stale, retrieval quality, auditability, and downstream answers can all degrade.</a:t>
            </a:r>
          </a:p>
        </p:txBody>
      </p:sp>
    </p:spTree>
    <p:extLst>
      <p:ext uri="{BB962C8B-B14F-4D97-AF65-F5344CB8AC3E}">
        <p14:creationId xmlns:p14="http://schemas.microsoft.com/office/powerpoint/2010/main" val="3103470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-4">
            <a:extLst xmlns:a="http://schemas.openxmlformats.org/drawingml/2006/main">
              <a:ext uri="{FF2B5EF4-FFF2-40B4-BE49-F238E27FC236}">
                <a16:creationId xmlns:a16="http://schemas.microsoft.com/office/drawing/2014/main" id="{FC07C96F-9F89-406B-BB3E-637CAD74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A5A8"/>
                </a:solidFill>
              </a:defRPr>
            </a:pPr>
            <a:r>
              <a:rPr sz="975" b="1" i="0">
                <a:solidFill>
                  <a:srgbClr val="0EA5A8"/>
                </a:solidFill>
              </a:rPr>
              <a:t>ILLUSTRATIVE EMBEDDING-DRIFT FAILURE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D7391DA1-0759-4D7A-AFE6-8D6C5166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A model mismatch can retrieve the wrong document</a:t>
            </a:r>
          </a:p>
        </p:txBody>
      </p:sp>
      <p:sp>
        <p:nvSpPr>
          <p:cNvPr id="3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0F883149-173E-4300-9F15-24032704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570C9CCD-8CF0-4472-9734-3648C5B4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7D98"/>
                </a:solidFill>
              </a:defRPr>
            </a:pPr>
            <a:r>
              <a:rPr sz="825" b="1" i="0">
                <a:solidFill>
                  <a:srgbClr val="627D98"/>
                </a:solidFill>
              </a:rPr>
              <a:t>GIT FOR EMBEDDINGS  |  SEMESTER PBL</a:t>
            </a:r>
          </a:p>
        </p:txBody>
      </p:sp>
      <p:sp>
        <p:nvSpPr>
          <p:cNvPr id="5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B50839C5-8C9C-45F7-8502-DF8D3FE7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D98"/>
                </a:solidFill>
              </a:defRPr>
            </a:pPr>
            <a:r>
              <a:rPr sz="900" b="0" i="0">
                <a:solidFill>
                  <a:srgbClr val="627D98"/>
                </a:solidFill>
              </a:rPr>
              <a:t>4</a:t>
            </a:r>
          </a:p>
        </p:txBody>
      </p:sp>
      <p:sp>
        <p:nvSpPr>
          <p:cNvPr id="6" name="drift-note">
            <a:extLst xmlns:a="http://schemas.openxmlformats.org/drawingml/2006/main">
              <a:ext uri="{FF2B5EF4-FFF2-40B4-BE49-F238E27FC236}">
                <a16:creationId xmlns:a16="http://schemas.microsoft.com/office/drawing/2014/main" id="{D4C40281-F6DC-448A-A7DD-6A75254E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906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627D98"/>
                </a:solidFill>
              </a:defRPr>
            </a:pPr>
            <a:r>
              <a:rPr sz="1050" b="0" i="1">
                <a:solidFill>
                  <a:srgbClr val="627D98"/>
                </a:solidFill>
              </a:rPr>
              <a:t>Illustrative failure path - not a measured project result</a:t>
            </a:r>
          </a:p>
        </p:txBody>
      </p:sp>
      <p:sp>
        <p:nvSpPr>
          <p:cNvPr id="7" name="drift-query-band">
            <a:extLst xmlns:a="http://schemas.openxmlformats.org/drawingml/2006/main">
              <a:ext uri="{FF2B5EF4-FFF2-40B4-BE49-F238E27FC236}">
                <a16:creationId xmlns:a16="http://schemas.microsoft.com/office/drawing/2014/main" id="{7952B5D1-CD0C-4919-B2D9-119C04AA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10763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rift-query-label">
            <a:extLst xmlns:a="http://schemas.openxmlformats.org/drawingml/2006/main">
              <a:ext uri="{FF2B5EF4-FFF2-40B4-BE49-F238E27FC236}">
                <a16:creationId xmlns:a16="http://schemas.microsoft.com/office/drawing/2014/main" id="{35B40889-3B31-4C06-AFB3-D3318FC8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52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E1E3"/>
                </a:solidFill>
              </a:defRPr>
            </a:pPr>
            <a:r>
              <a:rPr sz="975" b="1" i="0">
                <a:solidFill>
                  <a:srgbClr val="8BE1E3"/>
                </a:solidFill>
              </a:rPr>
              <a:t>USER QUERY</a:t>
            </a:r>
          </a:p>
        </p:txBody>
      </p:sp>
      <p:sp>
        <p:nvSpPr>
          <p:cNvPr id="9" name="drift-query">
            <a:extLst xmlns:a="http://schemas.openxmlformats.org/drawingml/2006/main">
              <a:ext uri="{FF2B5EF4-FFF2-40B4-BE49-F238E27FC236}">
                <a16:creationId xmlns:a16="http://schemas.microsoft.com/office/drawing/2014/main" id="{F76114D0-4CC9-402B-89B0-7726767B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69545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How do I reset my student portal password?</a:t>
            </a:r>
          </a:p>
        </p:txBody>
      </p:sp>
      <p:sp>
        <p:nvSpPr>
          <p:cNvPr id="10" name="drift-index-title">
            <a:extLst xmlns:a="http://schemas.openxmlformats.org/drawingml/2006/main">
              <a:ext uri="{FF2B5EF4-FFF2-40B4-BE49-F238E27FC236}">
                <a16:creationId xmlns:a16="http://schemas.microsoft.com/office/drawing/2014/main" id="{0F4E9454-A5FC-4A96-9DC8-C7EAA62D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A43"/>
                </a:solidFill>
              </a:defRPr>
            </a:pPr>
            <a:r>
              <a:rPr sz="1875" b="1" i="0">
                <a:solidFill>
                  <a:srgbClr val="102A43"/>
                </a:solidFill>
              </a:rPr>
              <a:t>Stored document vectors</a:t>
            </a:r>
          </a:p>
        </p:txBody>
      </p:sp>
      <p:sp>
        <p:nvSpPr>
          <p:cNvPr id="11" name="drift-index-body">
            <a:extLst xmlns:a="http://schemas.openxmlformats.org/drawingml/2006/main">
              <a:ext uri="{FF2B5EF4-FFF2-40B4-BE49-F238E27FC236}">
                <a16:creationId xmlns:a16="http://schemas.microsoft.com/office/drawing/2014/main" id="{E72DE18F-D7E5-4045-96FF-1E38A022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Embedded with Model A</a:t>
            </a:r>
          </a:p>
          <a:p xmlns:a="http://schemas.openxmlformats.org/drawingml/2006/main">
            <a:pPr algn="l"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and preprocessing v1</a:t>
            </a:r>
          </a:p>
        </p:txBody>
      </p:sp>
      <p:sp>
        <p:nvSpPr>
          <p:cNvPr id="12" name="drift-index-rule">
            <a:extLst xmlns:a="http://schemas.openxmlformats.org/drawingml/2006/main">
              <a:ext uri="{FF2B5EF4-FFF2-40B4-BE49-F238E27FC236}">
                <a16:creationId xmlns:a16="http://schemas.microsoft.com/office/drawing/2014/main" id="{A3551347-6002-4744-8427-2AD4B1E6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38625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rift-query-title">
            <a:extLst xmlns:a="http://schemas.openxmlformats.org/drawingml/2006/main">
              <a:ext uri="{FF2B5EF4-FFF2-40B4-BE49-F238E27FC236}">
                <a16:creationId xmlns:a16="http://schemas.microsoft.com/office/drawing/2014/main" id="{E4B9B96C-6D88-451E-913A-0F0D2AB7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14625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A43"/>
                </a:solidFill>
              </a:defRPr>
            </a:pPr>
            <a:r>
              <a:rPr sz="1875" b="1" i="0">
                <a:solidFill>
                  <a:srgbClr val="102A43"/>
                </a:solidFill>
              </a:rPr>
              <a:t>New query vector</a:t>
            </a:r>
          </a:p>
        </p:txBody>
      </p:sp>
      <p:sp>
        <p:nvSpPr>
          <p:cNvPr id="14" name="drift-query-body">
            <a:extLst xmlns:a="http://schemas.openxmlformats.org/drawingml/2006/main">
              <a:ext uri="{FF2B5EF4-FFF2-40B4-BE49-F238E27FC236}">
                <a16:creationId xmlns:a16="http://schemas.microsoft.com/office/drawing/2014/main" id="{9E717A9D-7439-4227-BCB7-325350A0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3850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Embedded with Model B</a:t>
            </a:r>
          </a:p>
          <a:p xmlns:a="http://schemas.openxmlformats.org/drawingml/2006/main">
            <a:pPr algn="l"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after a deployment update</a:t>
            </a:r>
          </a:p>
        </p:txBody>
      </p:sp>
      <p:sp>
        <p:nvSpPr>
          <p:cNvPr id="15" name="drift-query-rule">
            <a:extLst xmlns:a="http://schemas.openxmlformats.org/drawingml/2006/main">
              <a:ext uri="{FF2B5EF4-FFF2-40B4-BE49-F238E27FC236}">
                <a16:creationId xmlns:a16="http://schemas.microsoft.com/office/drawing/2014/main" id="{1CF4CEBE-50E9-49EB-9C34-BA59A1F8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38625"/>
            <a:ext cx="2714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rift-mismatch">
            <a:extLst xmlns:a="http://schemas.openxmlformats.org/drawingml/2006/main">
              <a:ext uri="{FF2B5EF4-FFF2-40B4-BE49-F238E27FC236}">
                <a16:creationId xmlns:a16="http://schemas.microsoft.com/office/drawing/2014/main" id="{B7AD7299-1D33-4D12-A6E1-5E6911AD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1952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D97706"/>
                </a:solidFill>
              </a:defRPr>
            </a:pPr>
            <a:r>
              <a:rPr sz="1725" b="1" i="0">
                <a:solidFill>
                  <a:srgbClr val="D97706"/>
                </a:solidFill>
              </a:rPr>
              <a:t>Same dimension</a:t>
            </a:r>
          </a:p>
          <a:p xmlns:a="http://schemas.openxmlformats.org/drawingml/2006/main">
            <a:pPr algn="ctr">
              <a:defRPr sz="1725" b="1" i="0">
                <a:solidFill>
                  <a:srgbClr val="D97706"/>
                </a:solidFill>
              </a:defRPr>
            </a:pPr>
            <a:r>
              <a:rPr sz="1725" b="1" i="0">
                <a:solidFill>
                  <a:srgbClr val="D97706"/>
                </a:solidFill>
              </a:rPr>
              <a:t>≠ same vector space</a:t>
            </a:r>
          </a:p>
        </p:txBody>
      </p:sp>
      <p:sp>
        <p:nvSpPr>
          <p:cNvPr id="17" name="drift-result-field">
            <a:extLst xmlns:a="http://schemas.openxmlformats.org/drawingml/2006/main">
              <a:ext uri="{FF2B5EF4-FFF2-40B4-BE49-F238E27FC236}">
                <a16:creationId xmlns:a16="http://schemas.microsoft.com/office/drawing/2014/main" id="{463C0A22-B161-4D8E-B1C1-3C8B6A22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47950"/>
            <a:ext cx="195262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8" name="drift-result-tag">
            <a:extLst xmlns:a="http://schemas.openxmlformats.org/drawingml/2006/main">
              <a:ext uri="{FF2B5EF4-FFF2-40B4-BE49-F238E27FC236}">
                <a16:creationId xmlns:a16="http://schemas.microsoft.com/office/drawing/2014/main" id="{CC131B8A-2538-4CAB-A2EA-7A5BC9B5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765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D97706"/>
                </a:solidFill>
              </a:defRPr>
            </a:pPr>
            <a:r>
              <a:rPr sz="975" b="1" i="0">
                <a:solidFill>
                  <a:srgbClr val="D97706"/>
                </a:solidFill>
              </a:rPr>
              <a:t>TOP RESULT</a:t>
            </a:r>
          </a:p>
        </p:txBody>
      </p:sp>
      <p:sp>
        <p:nvSpPr>
          <p:cNvPr id="19" name="drift-result">
            <a:extLst xmlns:a="http://schemas.openxmlformats.org/drawingml/2006/main">
              <a:ext uri="{FF2B5EF4-FFF2-40B4-BE49-F238E27FC236}">
                <a16:creationId xmlns:a16="http://schemas.microsoft.com/office/drawing/2014/main" id="{C80703C4-0001-40A8-B9A7-747BEA0C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86125"/>
            <a:ext cx="1609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02A43"/>
                </a:solidFill>
              </a:defRPr>
            </a:pPr>
            <a:r>
              <a:rPr sz="1500" b="1" i="0">
                <a:solidFill>
                  <a:srgbClr val="102A43"/>
                </a:solidFill>
              </a:rPr>
              <a:t>Faculty payroll</a:t>
            </a:r>
          </a:p>
          <a:p xmlns:a="http://schemas.openxmlformats.org/drawingml/2006/main">
            <a:pPr algn="ctr">
              <a:defRPr sz="1500" b="1" i="0">
                <a:solidFill>
                  <a:srgbClr val="102A43"/>
                </a:solidFill>
              </a:defRPr>
            </a:pPr>
            <a:r>
              <a:rPr sz="1500" b="1" i="0">
                <a:solidFill>
                  <a:srgbClr val="102A43"/>
                </a:solidFill>
              </a:rPr>
              <a:t>password policy</a:t>
            </a:r>
          </a:p>
        </p:txBody>
      </p:sp>
      <p:sp>
        <p:nvSpPr>
          <p:cNvPr id="20" name="drift-wrong">
            <a:extLst xmlns:a="http://schemas.openxmlformats.org/drawingml/2006/main">
              <a:ext uri="{FF2B5EF4-FFF2-40B4-BE49-F238E27FC236}">
                <a16:creationId xmlns:a16="http://schemas.microsoft.com/office/drawing/2014/main" id="{10337060-3487-4C58-A9A0-AA04E034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48125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42318"/>
                </a:solidFill>
              </a:defRPr>
            </a:pPr>
            <a:r>
              <a:rPr sz="975" b="1" i="0">
                <a:solidFill>
                  <a:srgbClr val="B42318"/>
                </a:solidFill>
              </a:rPr>
              <a:t>WRONG CONTEXT</a:t>
            </a:r>
          </a:p>
        </p:txBody>
      </p:sp>
      <p:sp>
        <p:nvSpPr>
          <p:cNvPr id="21" name="drift-expected">
            <a:extLst xmlns:a="http://schemas.openxmlformats.org/drawingml/2006/main">
              <a:ext uri="{FF2B5EF4-FFF2-40B4-BE49-F238E27FC236}">
                <a16:creationId xmlns:a16="http://schemas.microsoft.com/office/drawing/2014/main" id="{02703E80-DC62-426E-AB2C-2C487E8E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0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EA5A8"/>
                </a:solidFill>
              </a:defRPr>
            </a:pPr>
            <a:r>
              <a:rPr sz="1425" b="1" i="0">
                <a:solidFill>
                  <a:srgbClr val="0EA5A8"/>
                </a:solidFill>
              </a:rPr>
              <a:t>Expected: Student portal password-reset guide</a:t>
            </a:r>
          </a:p>
        </p:txBody>
      </p:sp>
      <p:sp>
        <p:nvSpPr>
          <p:cNvPr id="22" name="drift-consequence-band">
            <a:extLst xmlns:a="http://schemas.openxmlformats.org/drawingml/2006/main">
              <a:ext uri="{FF2B5EF4-FFF2-40B4-BE49-F238E27FC236}">
                <a16:creationId xmlns:a16="http://schemas.microsoft.com/office/drawing/2014/main" id="{B365BEC5-4DA2-4762-AB67-74F57D6A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91125"/>
            <a:ext cx="1076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rift-consequence">
            <a:extLst xmlns:a="http://schemas.openxmlformats.org/drawingml/2006/main">
              <a:ext uri="{FF2B5EF4-FFF2-40B4-BE49-F238E27FC236}">
                <a16:creationId xmlns:a16="http://schemas.microsoft.com/office/drawing/2014/main" id="{617082FB-9A1B-42E4-A886-4B5F3C84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0067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Wrong nearest neighbour  →  wrong retrieved context  →  confident but incorrect answer</a:t>
            </a:r>
          </a:p>
        </p:txBody>
      </p:sp>
    </p:spTree>
    <p:extLst>
      <p:ext uri="{BB962C8B-B14F-4D97-AF65-F5344CB8AC3E}">
        <p14:creationId xmlns:p14="http://schemas.microsoft.com/office/powerpoint/2010/main" val="21017675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5">
            <a:extLst xmlns:a="http://schemas.openxmlformats.org/drawingml/2006/main">
              <a:ext uri="{FF2B5EF4-FFF2-40B4-BE49-F238E27FC236}">
                <a16:creationId xmlns:a16="http://schemas.microsoft.com/office/drawing/2014/main" id="{B7D13F57-424A-44F4-BF6A-40D31724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A5A8"/>
                </a:solidFill>
              </a:defRPr>
            </a:pPr>
            <a:r>
              <a:rPr sz="975" b="1" i="0">
                <a:solidFill>
                  <a:srgbClr val="0EA5A8"/>
                </a:solidFill>
              </a:rPr>
              <a:t>ILLUSTRATIVE UNIVERSITY-NOTES SCENARIO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1E0395F3-67AA-48FB-AD84-FF27DE2B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Chunk-level tracking targets only the work that actually changed</a:t>
            </a:r>
          </a:p>
        </p:txBody>
      </p:sp>
      <p:sp>
        <p:nvSpPr>
          <p:cNvPr id="3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68269900-A628-4943-A804-C77CA777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72F93F2E-333F-484F-B38B-8B206CF2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7D98"/>
                </a:solidFill>
              </a:defRPr>
            </a:pPr>
            <a:r>
              <a:rPr sz="825" b="1" i="0">
                <a:solidFill>
                  <a:srgbClr val="627D98"/>
                </a:solidFill>
              </a:rPr>
              <a:t>GIT FOR EMBEDDINGS  |  SEMESTER PBL</a:t>
            </a:r>
          </a:p>
        </p:txBody>
      </p:sp>
      <p:sp>
        <p:nvSpPr>
          <p:cNvPr id="5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0C6AE276-FB3C-4874-AD06-29313806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D98"/>
                </a:solidFill>
              </a:defRPr>
            </a:pPr>
            <a:r>
              <a:rPr sz="900" b="0" i="0">
                <a:solidFill>
                  <a:srgbClr val="627D98"/>
                </a:solidFill>
              </a:rPr>
              <a:t>5</a:t>
            </a:r>
          </a:p>
        </p:txBody>
      </p:sp>
      <p:sp>
        <p:nvSpPr>
          <p:cNvPr id="6" name="scenario-note">
            <a:extLst xmlns:a="http://schemas.openxmlformats.org/drawingml/2006/main">
              <a:ext uri="{FF2B5EF4-FFF2-40B4-BE49-F238E27FC236}">
                <a16:creationId xmlns:a16="http://schemas.microsoft.com/office/drawing/2014/main" id="{EB640CB1-1C36-4A47-A2A4-241D0783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001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627D98"/>
                </a:solidFill>
              </a:defRPr>
            </a:pPr>
            <a:r>
              <a:rPr sz="1050" b="0" i="1">
                <a:solidFill>
                  <a:srgbClr val="627D98"/>
                </a:solidFill>
              </a:rPr>
              <a:t>Illustrative scale from the project specification - not benchmark results</a:t>
            </a:r>
          </a:p>
        </p:txBody>
      </p:sp>
      <p:sp>
        <p:nvSpPr>
          <p:cNvPr id="7" name="scenario-panel-0">
            <a:extLst xmlns:a="http://schemas.openxmlformats.org/drawingml/2006/main">
              <a:ext uri="{FF2B5EF4-FFF2-40B4-BE49-F238E27FC236}">
                <a16:creationId xmlns:a16="http://schemas.microsoft.com/office/drawing/2014/main" id="{E229E85E-37EC-4C71-9918-A9A4E138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52625"/>
            <a:ext cx="3476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enario-stat-0">
            <a:extLst xmlns:a="http://schemas.openxmlformats.org/drawingml/2006/main">
              <a:ext uri="{FF2B5EF4-FFF2-40B4-BE49-F238E27FC236}">
                <a16:creationId xmlns:a16="http://schemas.microsoft.com/office/drawing/2014/main" id="{7960BCFE-12AA-42BB-B89E-49A22BCC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02A43"/>
                </a:solidFill>
              </a:defRPr>
            </a:pPr>
            <a:r>
              <a:rPr sz="4200" b="1" i="0">
                <a:solidFill>
                  <a:srgbClr val="102A43"/>
                </a:solidFill>
              </a:rPr>
              <a:t>100,000</a:t>
            </a:r>
          </a:p>
        </p:txBody>
      </p:sp>
      <p:sp>
        <p:nvSpPr>
          <p:cNvPr id="9" name="scenario-label-0">
            <a:extLst xmlns:a="http://schemas.openxmlformats.org/drawingml/2006/main">
              <a:ext uri="{FF2B5EF4-FFF2-40B4-BE49-F238E27FC236}">
                <a16:creationId xmlns:a16="http://schemas.microsoft.com/office/drawing/2014/main" id="{2744864F-8878-4931-A66F-97EB4A80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43B53"/>
                </a:solidFill>
              </a:defRPr>
            </a:pPr>
            <a:r>
              <a:rPr sz="1425" b="0" i="0">
                <a:solidFill>
                  <a:srgbClr val="243B53"/>
                </a:solidFill>
              </a:rPr>
              <a:t>total chunks / embeddings</a:t>
            </a:r>
          </a:p>
        </p:txBody>
      </p:sp>
      <p:sp>
        <p:nvSpPr>
          <p:cNvPr id="10" name="scenario-panel-1">
            <a:extLst xmlns:a="http://schemas.openxmlformats.org/drawingml/2006/main">
              <a:ext uri="{FF2B5EF4-FFF2-40B4-BE49-F238E27FC236}">
                <a16:creationId xmlns:a16="http://schemas.microsoft.com/office/drawing/2014/main" id="{BFCEC073-9988-4452-9BB5-D5E111C2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3476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cenario-stat-1">
            <a:extLst xmlns:a="http://schemas.openxmlformats.org/drawingml/2006/main">
              <a:ext uri="{FF2B5EF4-FFF2-40B4-BE49-F238E27FC236}">
                <a16:creationId xmlns:a16="http://schemas.microsoft.com/office/drawing/2014/main" id="{EE58E716-741F-498C-904B-4FFAEA0A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812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02A43"/>
                </a:solidFill>
              </a:defRPr>
            </a:pPr>
            <a:r>
              <a:rPr sz="4200" b="1" i="0">
                <a:solidFill>
                  <a:srgbClr val="102A43"/>
                </a:solidFill>
              </a:rPr>
              <a:t>50</a:t>
            </a:r>
          </a:p>
        </p:txBody>
      </p:sp>
      <p:sp>
        <p:nvSpPr>
          <p:cNvPr id="12" name="scenario-label-1">
            <a:extLst xmlns:a="http://schemas.openxmlformats.org/drawingml/2006/main">
              <a:ext uri="{FF2B5EF4-FFF2-40B4-BE49-F238E27FC236}">
                <a16:creationId xmlns:a16="http://schemas.microsoft.com/office/drawing/2014/main" id="{9C86FA50-FCE3-423D-A55F-06A0D65F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6671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43B53"/>
                </a:solidFill>
              </a:defRPr>
            </a:pPr>
            <a:r>
              <a:rPr sz="1425" b="0" i="0">
                <a:solidFill>
                  <a:srgbClr val="243B53"/>
                </a:solidFill>
              </a:rPr>
              <a:t>documents modified</a:t>
            </a:r>
          </a:p>
        </p:txBody>
      </p:sp>
      <p:sp>
        <p:nvSpPr>
          <p:cNvPr id="13" name="scenario-panel-2">
            <a:extLst xmlns:a="http://schemas.openxmlformats.org/drawingml/2006/main">
              <a:ext uri="{FF2B5EF4-FFF2-40B4-BE49-F238E27FC236}">
                <a16:creationId xmlns:a16="http://schemas.microsoft.com/office/drawing/2014/main" id="{D54700C7-C2BF-4A45-8502-9675E1DC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3476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cenario-stat-2">
            <a:extLst xmlns:a="http://schemas.openxmlformats.org/drawingml/2006/main">
              <a:ext uri="{FF2B5EF4-FFF2-40B4-BE49-F238E27FC236}">
                <a16:creationId xmlns:a16="http://schemas.microsoft.com/office/drawing/2014/main" id="{FD11E411-153B-41D0-AA56-7C48B7D8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812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EA5A8"/>
                </a:solidFill>
              </a:defRPr>
            </a:pPr>
            <a:r>
              <a:rPr sz="2850" b="1" i="0">
                <a:solidFill>
                  <a:srgbClr val="0EA5A8"/>
                </a:solidFill>
              </a:rPr>
              <a:t>Only changed chunks</a:t>
            </a:r>
          </a:p>
        </p:txBody>
      </p:sp>
      <p:sp>
        <p:nvSpPr>
          <p:cNvPr id="15" name="scenario-label-2">
            <a:extLst xmlns:a="http://schemas.openxmlformats.org/drawingml/2006/main">
              <a:ext uri="{FF2B5EF4-FFF2-40B4-BE49-F238E27FC236}">
                <a16:creationId xmlns:a16="http://schemas.microsoft.com/office/drawing/2014/main" id="{7FECAE0D-28C3-41CA-A4C8-B8CFCA66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671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43B53"/>
                </a:solidFill>
              </a:defRPr>
            </a:pPr>
            <a:r>
              <a:rPr sz="1425" b="0" i="0">
                <a:solidFill>
                  <a:srgbClr val="243B53"/>
                </a:solidFill>
              </a:rPr>
              <a:t>regenerated by the proposed method</a:t>
            </a:r>
          </a:p>
        </p:txBody>
      </p:sp>
      <p:sp>
        <p:nvSpPr>
          <p:cNvPr id="16" name="scenario-bottom">
            <a:extLst xmlns:a="http://schemas.openxmlformats.org/drawingml/2006/main">
              <a:ext uri="{FF2B5EF4-FFF2-40B4-BE49-F238E27FC236}">
                <a16:creationId xmlns:a16="http://schemas.microsoft.com/office/drawing/2014/main" id="{77FDEB3C-CCE0-4E4A-88CE-092CEE54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942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Unchanged commits keep referencing existing immutable embedding objects.</a:t>
            </a:r>
          </a:p>
        </p:txBody>
      </p:sp>
    </p:spTree>
    <p:extLst>
      <p:ext uri="{BB962C8B-B14F-4D97-AF65-F5344CB8AC3E}">
        <p14:creationId xmlns:p14="http://schemas.microsoft.com/office/powerpoint/2010/main" val="5957526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6">
            <a:extLst xmlns:a="http://schemas.openxmlformats.org/drawingml/2006/main">
              <a:ext uri="{FF2B5EF4-FFF2-40B4-BE49-F238E27FC236}">
                <a16:creationId xmlns:a16="http://schemas.microsoft.com/office/drawing/2014/main" id="{3699A270-A9B6-48E5-B744-F93DE852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A5A8"/>
                </a:solidFill>
              </a:defRPr>
            </a:pPr>
            <a:r>
              <a:rPr sz="975" b="1" i="0">
                <a:solidFill>
                  <a:srgbClr val="0EA5A8"/>
                </a:solidFill>
              </a:rPr>
              <a:t>CORE DESIGN PRINCIPLE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E4809A68-0979-47D1-92EF-3C028C4F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The system versions four related states - without confusing them</a:t>
            </a:r>
          </a:p>
        </p:txBody>
      </p:sp>
      <p:sp>
        <p:nvSpPr>
          <p:cNvPr id="3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EA1944E1-2FB4-47E8-A21B-BDF8070D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F0400C34-8DF3-41EE-B720-4DBD9F0F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7D98"/>
                </a:solidFill>
              </a:defRPr>
            </a:pPr>
            <a:r>
              <a:rPr sz="825" b="1" i="0">
                <a:solidFill>
                  <a:srgbClr val="627D98"/>
                </a:solidFill>
              </a:rPr>
              <a:t>GIT FOR EMBEDDINGS  |  SEMESTER PBL</a:t>
            </a:r>
          </a:p>
        </p:txBody>
      </p:sp>
      <p:sp>
        <p:nvSpPr>
          <p:cNvPr id="5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DC26D449-F1AB-4846-BC81-3CBEE13E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D98"/>
                </a:solidFill>
              </a:defRPr>
            </a:pPr>
            <a:r>
              <a:rPr sz="900" b="0" i="0">
                <a:solidFill>
                  <a:srgbClr val="627D98"/>
                </a:solidFill>
              </a:rPr>
              <a:t>6</a:t>
            </a:r>
          </a:p>
        </p:txBody>
      </p:sp>
      <p:sp>
        <p:nvSpPr>
          <p:cNvPr id="6" name="state-num-0">
            <a:extLst xmlns:a="http://schemas.openxmlformats.org/drawingml/2006/main">
              <a:ext uri="{FF2B5EF4-FFF2-40B4-BE49-F238E27FC236}">
                <a16:creationId xmlns:a16="http://schemas.microsoft.com/office/drawing/2014/main" id="{8C3ACBBC-3501-4CA6-AFEE-8C3D725E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363DF"/>
                </a:solidFill>
              </a:defRPr>
            </a:pPr>
            <a:r>
              <a:rPr sz="3600" b="1" i="0">
                <a:solidFill>
                  <a:srgbClr val="1363DF"/>
                </a:solidFill>
              </a:rPr>
              <a:t>1</a:t>
            </a:r>
          </a:p>
        </p:txBody>
      </p:sp>
      <p:sp>
        <p:nvSpPr>
          <p:cNvPr id="7" name="state-line-0">
            <a:extLst xmlns:a="http://schemas.openxmlformats.org/drawingml/2006/main">
              <a:ext uri="{FF2B5EF4-FFF2-40B4-BE49-F238E27FC236}">
                <a16:creationId xmlns:a16="http://schemas.microsoft.com/office/drawing/2014/main" id="{3326A835-8B5F-4418-95B0-CECF7FFA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te-title-0">
            <a:extLst xmlns:a="http://schemas.openxmlformats.org/drawingml/2006/main">
              <a:ext uri="{FF2B5EF4-FFF2-40B4-BE49-F238E27FC236}">
                <a16:creationId xmlns:a16="http://schemas.microsoft.com/office/drawing/2014/main" id="{BCF02602-F42C-472C-8F14-E3058EA4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Source documents</a:t>
            </a:r>
          </a:p>
        </p:txBody>
      </p:sp>
      <p:sp>
        <p:nvSpPr>
          <p:cNvPr id="9" name="state-body-0">
            <a:extLst xmlns:a="http://schemas.openxmlformats.org/drawingml/2006/main">
              <a:ext uri="{FF2B5EF4-FFF2-40B4-BE49-F238E27FC236}">
                <a16:creationId xmlns:a16="http://schemas.microsoft.com/office/drawing/2014/main" id="{3DF7A8DE-1893-460D-BAD1-A148E132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1000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B53"/>
                </a:solidFill>
              </a:defRPr>
            </a:pPr>
            <a:r>
              <a:rPr sz="1350" b="0" i="0">
                <a:solidFill>
                  <a:srgbClr val="243B53"/>
                </a:solidFill>
              </a:rPr>
              <a:t>Content + metadata</a:t>
            </a:r>
          </a:p>
        </p:txBody>
      </p:sp>
      <p:sp>
        <p:nvSpPr>
          <p:cNvPr id="10" name="state-num-1">
            <a:extLst xmlns:a="http://schemas.openxmlformats.org/drawingml/2006/main">
              <a:ext uri="{FF2B5EF4-FFF2-40B4-BE49-F238E27FC236}">
                <a16:creationId xmlns:a16="http://schemas.microsoft.com/office/drawing/2014/main" id="{3EBF0456-EBBE-4B31-B146-8F1E4184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0975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363DF"/>
                </a:solidFill>
              </a:defRPr>
            </a:pPr>
            <a:r>
              <a:rPr sz="3600" b="1" i="0">
                <a:solidFill>
                  <a:srgbClr val="1363DF"/>
                </a:solidFill>
              </a:rPr>
              <a:t>2</a:t>
            </a:r>
          </a:p>
        </p:txBody>
      </p:sp>
      <p:sp>
        <p:nvSpPr>
          <p:cNvPr id="11" name="state-line-1">
            <a:extLst xmlns:a="http://schemas.openxmlformats.org/drawingml/2006/main">
              <a:ext uri="{FF2B5EF4-FFF2-40B4-BE49-F238E27FC236}">
                <a16:creationId xmlns:a16="http://schemas.microsoft.com/office/drawing/2014/main" id="{6088F77A-AB68-4D1C-9B5A-2F2D213F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71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te-title-1">
            <a:extLst xmlns:a="http://schemas.openxmlformats.org/drawingml/2006/main">
              <a:ext uri="{FF2B5EF4-FFF2-40B4-BE49-F238E27FC236}">
                <a16:creationId xmlns:a16="http://schemas.microsoft.com/office/drawing/2014/main" id="{D135B81C-EF49-4425-A64A-7C011B1B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57500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Chunks and objects</a:t>
            </a:r>
          </a:p>
        </p:txBody>
      </p:sp>
      <p:sp>
        <p:nvSpPr>
          <p:cNvPr id="13" name="state-body-1">
            <a:extLst xmlns:a="http://schemas.openxmlformats.org/drawingml/2006/main">
              <a:ext uri="{FF2B5EF4-FFF2-40B4-BE49-F238E27FC236}">
                <a16:creationId xmlns:a16="http://schemas.microsoft.com/office/drawing/2014/main" id="{BE542890-5870-4915-BAE1-B066E168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1000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B53"/>
                </a:solidFill>
              </a:defRPr>
            </a:pPr>
            <a:r>
              <a:rPr sz="1350" b="0" i="0">
                <a:solidFill>
                  <a:srgbClr val="243B53"/>
                </a:solidFill>
              </a:rPr>
              <a:t>Deterministic text + vectors</a:t>
            </a:r>
          </a:p>
        </p:txBody>
      </p:sp>
      <p:sp>
        <p:nvSpPr>
          <p:cNvPr id="14" name="state-num-2">
            <a:extLst xmlns:a="http://schemas.openxmlformats.org/drawingml/2006/main">
              <a:ext uri="{FF2B5EF4-FFF2-40B4-BE49-F238E27FC236}">
                <a16:creationId xmlns:a16="http://schemas.microsoft.com/office/drawing/2014/main" id="{CA33D6AB-756F-4276-9C43-00F1AA85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D97706"/>
                </a:solidFill>
              </a:defRPr>
            </a:pPr>
            <a:r>
              <a:rPr sz="3600" b="1" i="0">
                <a:solidFill>
                  <a:srgbClr val="D97706"/>
                </a:solidFill>
              </a:rPr>
              <a:t>3</a:t>
            </a:r>
          </a:p>
        </p:txBody>
      </p:sp>
      <p:sp>
        <p:nvSpPr>
          <p:cNvPr id="15" name="state-line-2">
            <a:extLst xmlns:a="http://schemas.openxmlformats.org/drawingml/2006/main">
              <a:ext uri="{FF2B5EF4-FFF2-40B4-BE49-F238E27FC236}">
                <a16:creationId xmlns:a16="http://schemas.microsoft.com/office/drawing/2014/main" id="{007FEFE4-A703-43DA-BB3A-5AA11015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71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te-title-2">
            <a:extLst xmlns:a="http://schemas.openxmlformats.org/drawingml/2006/main">
              <a:ext uri="{FF2B5EF4-FFF2-40B4-BE49-F238E27FC236}">
                <a16:creationId xmlns:a16="http://schemas.microsoft.com/office/drawing/2014/main" id="{799B4787-4E8B-4005-AA1A-61C8796F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57500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Model configuration</a:t>
            </a:r>
          </a:p>
        </p:txBody>
      </p:sp>
      <p:sp>
        <p:nvSpPr>
          <p:cNvPr id="17" name="state-body-2">
            <a:extLst xmlns:a="http://schemas.openxmlformats.org/drawingml/2006/main">
              <a:ext uri="{FF2B5EF4-FFF2-40B4-BE49-F238E27FC236}">
                <a16:creationId xmlns:a16="http://schemas.microsoft.com/office/drawing/2014/main" id="{1BEF1C8E-6962-4CB1-8A58-1F80585F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1000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B53"/>
                </a:solidFill>
              </a:defRPr>
            </a:pPr>
            <a:r>
              <a:rPr sz="1350" b="0" i="0">
                <a:solidFill>
                  <a:srgbClr val="243B53"/>
                </a:solidFill>
              </a:rPr>
              <a:t>Revision, tokenizer, pooling, normalization</a:t>
            </a:r>
          </a:p>
        </p:txBody>
      </p:sp>
      <p:sp>
        <p:nvSpPr>
          <p:cNvPr id="18" name="state-num-3">
            <a:extLst xmlns:a="http://schemas.openxmlformats.org/drawingml/2006/main">
              <a:ext uri="{FF2B5EF4-FFF2-40B4-BE49-F238E27FC236}">
                <a16:creationId xmlns:a16="http://schemas.microsoft.com/office/drawing/2014/main" id="{64B381B2-3814-4FFA-8897-9F6E7D64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0975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363DF"/>
                </a:solidFill>
              </a:defRPr>
            </a:pPr>
            <a:r>
              <a:rPr sz="3600" b="1" i="0">
                <a:solidFill>
                  <a:srgbClr val="1363DF"/>
                </a:solidFill>
              </a:rPr>
              <a:t>4</a:t>
            </a:r>
          </a:p>
        </p:txBody>
      </p:sp>
      <p:sp>
        <p:nvSpPr>
          <p:cNvPr id="19" name="state-line-3">
            <a:extLst xmlns:a="http://schemas.openxmlformats.org/drawingml/2006/main">
              <a:ext uri="{FF2B5EF4-FFF2-40B4-BE49-F238E27FC236}">
                <a16:creationId xmlns:a16="http://schemas.microsoft.com/office/drawing/2014/main" id="{17095C7B-72D4-4FF5-AB6C-EEA09CE6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71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ate-title-3">
            <a:extLst xmlns:a="http://schemas.openxmlformats.org/drawingml/2006/main">
              <a:ext uri="{FF2B5EF4-FFF2-40B4-BE49-F238E27FC236}">
                <a16:creationId xmlns:a16="http://schemas.microsoft.com/office/drawing/2014/main" id="{B4953EAD-3DDB-4679-9185-C59B37D9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57500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Vector-store state</a:t>
            </a:r>
          </a:p>
        </p:txBody>
      </p:sp>
      <p:sp>
        <p:nvSpPr>
          <p:cNvPr id="21" name="state-body-3">
            <a:extLst xmlns:a="http://schemas.openxmlformats.org/drawingml/2006/main">
              <a:ext uri="{FF2B5EF4-FFF2-40B4-BE49-F238E27FC236}">
                <a16:creationId xmlns:a16="http://schemas.microsoft.com/office/drawing/2014/main" id="{53688DA3-3453-417F-811B-9745FCB8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81000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B53"/>
                </a:solidFill>
              </a:defRPr>
            </a:pPr>
            <a:r>
              <a:rPr sz="1350" b="0" i="0">
                <a:solidFill>
                  <a:srgbClr val="243B53"/>
                </a:solidFill>
              </a:rPr>
              <a:t>Searchable materialization of a commit</a:t>
            </a:r>
          </a:p>
        </p:txBody>
      </p:sp>
      <p:sp>
        <p:nvSpPr>
          <p:cNvPr id="22" name="state-callout">
            <a:extLst xmlns:a="http://schemas.openxmlformats.org/drawingml/2006/main">
              <a:ext uri="{FF2B5EF4-FFF2-40B4-BE49-F238E27FC236}">
                <a16:creationId xmlns:a16="http://schemas.microsoft.com/office/drawing/2014/main" id="{8DD5BA26-AA2A-444B-AC2E-60D550B5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02A43"/>
                </a:solidFill>
              </a:defRPr>
            </a:pPr>
            <a:r>
              <a:rPr sz="2100" b="1" i="0">
                <a:solidFill>
                  <a:srgbClr val="102A43"/>
                </a:solidFill>
              </a:rPr>
              <a:t>A commit links these states into one reproducible snapshot.</a:t>
            </a:r>
          </a:p>
        </p:txBody>
      </p:sp>
    </p:spTree>
    <p:extLst>
      <p:ext uri="{BB962C8B-B14F-4D97-AF65-F5344CB8AC3E}">
        <p14:creationId xmlns:p14="http://schemas.microsoft.com/office/powerpoint/2010/main" val="20386476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7">
            <a:extLst xmlns:a="http://schemas.openxmlformats.org/drawingml/2006/main">
              <a:ext uri="{FF2B5EF4-FFF2-40B4-BE49-F238E27FC236}">
                <a16:creationId xmlns:a16="http://schemas.microsoft.com/office/drawing/2014/main" id="{DE94440E-B99B-4C58-933F-8748BD3B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A5A8"/>
                </a:solidFill>
              </a:defRPr>
            </a:pPr>
            <a:r>
              <a:rPr sz="975" b="1" i="0">
                <a:solidFill>
                  <a:srgbClr val="0EA5A8"/>
                </a:solidFill>
              </a:rPr>
              <a:t>PROPOSED ARCHITECTURE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B90619F3-0AD9-4A25-A4F3-E4F36740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Content hashes decide reuse before the embedding model is called</a:t>
            </a:r>
          </a:p>
        </p:txBody>
      </p:sp>
      <p:sp>
        <p:nvSpPr>
          <p:cNvPr id="3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DE98ADC0-74EB-481D-A295-610A0E18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B64A62F0-B60A-417A-ACC2-AE67D786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7D98"/>
                </a:solidFill>
              </a:defRPr>
            </a:pPr>
            <a:r>
              <a:rPr sz="825" b="1" i="0">
                <a:solidFill>
                  <a:srgbClr val="627D98"/>
                </a:solidFill>
              </a:rPr>
              <a:t>GIT FOR EMBEDDINGS  |  SEMESTER PBL</a:t>
            </a:r>
          </a:p>
        </p:txBody>
      </p:sp>
      <p:sp>
        <p:nvSpPr>
          <p:cNvPr id="5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55E99BE8-04F9-41FB-ABEA-511904BC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D98"/>
                </a:solidFill>
              </a:defRPr>
            </a:pPr>
            <a:r>
              <a:rPr sz="900" b="0" i="0">
                <a:solidFill>
                  <a:srgbClr val="627D98"/>
                </a:solidFill>
              </a:rPr>
              <a:t>7</a:t>
            </a:r>
          </a:p>
        </p:txBody>
      </p:sp>
      <p:sp>
        <p:nvSpPr>
          <p:cNvPr id="6" name="arch-docs">
            <a:extLst xmlns:a="http://schemas.openxmlformats.org/drawingml/2006/main">
              <a:ext uri="{FF2B5EF4-FFF2-40B4-BE49-F238E27FC236}">
                <a16:creationId xmlns:a16="http://schemas.microsoft.com/office/drawing/2014/main" id="{D77F80FE-A4B3-4C26-B207-98AEE66D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1428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CCCD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Source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documents</a:t>
            </a:r>
          </a:p>
        </p:txBody>
      </p:sp>
      <p:sp>
        <p:nvSpPr>
          <p:cNvPr id="7" name="arch-pipeline">
            <a:extLst xmlns:a="http://schemas.openxmlformats.org/drawingml/2006/main">
              <a:ext uri="{FF2B5EF4-FFF2-40B4-BE49-F238E27FC236}">
                <a16:creationId xmlns:a16="http://schemas.microsoft.com/office/drawing/2014/main" id="{8C101A0C-F099-4B7A-B323-5BEBF3DC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81250"/>
            <a:ext cx="1714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CD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Load, normalize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and chunk</a:t>
            </a:r>
          </a:p>
        </p:txBody>
      </p:sp>
      <p:sp>
        <p:nvSpPr>
          <p:cNvPr id="8" name="arch-detector">
            <a:extLst xmlns:a="http://schemas.openxmlformats.org/drawingml/2006/main">
              <a:ext uri="{FF2B5EF4-FFF2-40B4-BE49-F238E27FC236}">
                <a16:creationId xmlns:a16="http://schemas.microsoft.com/office/drawing/2014/main" id="{03E9CB33-B875-42C5-B188-5AF9B86D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81250"/>
            <a:ext cx="176212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363D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Hash + change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detection</a:t>
            </a:r>
          </a:p>
        </p:txBody>
      </p:sp>
      <p:sp>
        <p:nvSpPr>
          <p:cNvPr id="9" name="arch-reuse">
            <a:extLst xmlns:a="http://schemas.openxmlformats.org/drawingml/2006/main">
              <a:ext uri="{FF2B5EF4-FFF2-40B4-BE49-F238E27FC236}">
                <a16:creationId xmlns:a16="http://schemas.microsoft.com/office/drawing/2014/main" id="{ED4078DC-7896-41FA-A53B-0374F83E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7F8F7"/>
          </a:solidFill>
          <a:ln xmlns:a="http://schemas.openxmlformats.org/drawingml/2006/main" w="9525">
            <a:solidFill>
              <a:srgbClr val="0EA5A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A5A8"/>
                </a:solidFill>
              </a:defRPr>
            </a:pPr>
            <a:r>
              <a:rPr sz="1350" b="1">
                <a:solidFill>
                  <a:srgbClr val="0EA5A8"/>
                </a:solidFill>
              </a:rPr>
              <a:t>Reuse immutable</a:t>
            </a:r>
          </a:p>
          <a:p xmlns:a="http://schemas.openxmlformats.org/drawingml/2006/main">
            <a:pPr algn="ctr">
              <a:defRPr sz="1350" b="1">
                <a:solidFill>
                  <a:srgbClr val="0EA5A8"/>
                </a:solidFill>
              </a:defRPr>
            </a:pPr>
            <a:r>
              <a:rPr sz="1350" b="1">
                <a:solidFill>
                  <a:srgbClr val="0EA5A8"/>
                </a:solidFill>
              </a:rPr>
              <a:t>object</a:t>
            </a:r>
          </a:p>
        </p:txBody>
      </p:sp>
      <p:sp>
        <p:nvSpPr>
          <p:cNvPr id="10" name="arch-embed">
            <a:extLst xmlns:a="http://schemas.openxmlformats.org/drawingml/2006/main">
              <a:ext uri="{FF2B5EF4-FFF2-40B4-BE49-F238E27FC236}">
                <a16:creationId xmlns:a16="http://schemas.microsoft.com/office/drawing/2014/main" id="{B6DA8C96-C6F6-472D-A8B0-04EFC111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81375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Generate new</a:t>
            </a:r>
          </a:p>
          <a:p xmlns:a="http://schemas.openxmlformats.org/drawingml/2006/main">
            <a:pPr algn="ctr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embedding</a:t>
            </a:r>
          </a:p>
        </p:txBody>
      </p:sp>
      <p:sp>
        <p:nvSpPr>
          <p:cNvPr id="11" name="arch-commit">
            <a:extLst xmlns:a="http://schemas.openxmlformats.org/drawingml/2006/main">
              <a:ext uri="{FF2B5EF4-FFF2-40B4-BE49-F238E27FC236}">
                <a16:creationId xmlns:a16="http://schemas.microsoft.com/office/drawing/2014/main" id="{C6F85A97-ABD4-456A-B942-39E2A215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381250"/>
            <a:ext cx="1619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Commit manifest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+ refs</a:t>
            </a:r>
          </a:p>
        </p:txBody>
      </p:sp>
      <p:cxnSp>
        <p:nvCxnSpPr>
          <p:cNvPr id="3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952625" y="28336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7D98"/>
            </a:solidFill>
            <a:prstDash val="solid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143375" y="283368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7D98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6477000" y="2047875"/>
            <a:ext cx="762000" cy="785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EA5A8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477000" y="2833688"/>
            <a:ext cx="762000" cy="976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D97706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953500" y="2047875"/>
            <a:ext cx="714375" cy="785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EA5A8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8953500" y="2833688"/>
            <a:ext cx="714375" cy="976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D97706"/>
            </a:solidFill>
            <a:prstDash val="solid"/>
            <a:tailEnd type="arrow" w="med" len="med"/>
          </a:ln>
        </p:spPr>
      </p:cxnSp>
      <p:sp>
        <p:nvSpPr>
          <p:cNvPr id="18" name="arch-reuse-label">
            <a:extLst xmlns:a="http://schemas.openxmlformats.org/drawingml/2006/main">
              <a:ext uri="{FF2B5EF4-FFF2-40B4-BE49-F238E27FC236}">
                <a16:creationId xmlns:a16="http://schemas.microsoft.com/office/drawing/2014/main" id="{5F296678-7AB3-4E9F-A460-9DA1EBB7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31445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EA5A8"/>
                </a:solidFill>
              </a:defRPr>
            </a:pPr>
            <a:r>
              <a:rPr sz="900" b="1" i="0">
                <a:solidFill>
                  <a:srgbClr val="0EA5A8"/>
                </a:solidFill>
              </a:rPr>
              <a:t>UNCHANGED + COMPATIBLE</a:t>
            </a:r>
          </a:p>
        </p:txBody>
      </p:sp>
      <p:sp>
        <p:nvSpPr>
          <p:cNvPr id="19" name="arch-embed-label">
            <a:extLst xmlns:a="http://schemas.openxmlformats.org/drawingml/2006/main">
              <a:ext uri="{FF2B5EF4-FFF2-40B4-BE49-F238E27FC236}">
                <a16:creationId xmlns:a16="http://schemas.microsoft.com/office/drawing/2014/main" id="{621DCE29-686D-4EF6-B3DA-024142AE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338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D97706"/>
                </a:solidFill>
              </a:defRPr>
            </a:pPr>
            <a:r>
              <a:rPr sz="900" b="1" i="0">
                <a:solidFill>
                  <a:srgbClr val="D97706"/>
                </a:solidFill>
              </a:rPr>
              <a:t>ADDED / MODIFIED / STALE</a:t>
            </a:r>
          </a:p>
        </p:txBody>
      </p:sp>
      <p:sp>
        <p:nvSpPr>
          <p:cNvPr id="20" name="arch-vector">
            <a:extLst xmlns:a="http://schemas.openxmlformats.org/drawingml/2006/main">
              <a:ext uri="{FF2B5EF4-FFF2-40B4-BE49-F238E27FC236}">
                <a16:creationId xmlns:a16="http://schemas.microsoft.com/office/drawing/2014/main" id="{9B76A92D-B4DB-40B2-8D07-D62E06A4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762500"/>
            <a:ext cx="16192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CD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Synchronize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ChromaDB</a:t>
            </a:r>
          </a:p>
        </p:txBody>
      </p:sp>
      <p:cxnSp>
        <p:nvCxnSpPr>
          <p:cNvPr id="43" name=""/>
          <p:cNvCxnSpPr>
            <a:stCxn xmlns:a="http://schemas.openxmlformats.org/drawingml/2006/main" id="11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10477500" y="3286125"/>
            <a:ext cx="0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7D98"/>
            </a:solidFill>
            <a:prstDash val="solid"/>
            <a:tailEnd type="arrow" w="med" len="med"/>
          </a:ln>
        </p:spPr>
      </p:cxnSp>
      <p:sp>
        <p:nvSpPr>
          <p:cNvPr id="22" name="arch-caption">
            <a:extLst xmlns:a="http://schemas.openxmlformats.org/drawingml/2006/main">
              <a:ext uri="{FF2B5EF4-FFF2-40B4-BE49-F238E27FC236}">
                <a16:creationId xmlns:a16="http://schemas.microsoft.com/office/drawing/2014/main" id="{FD7986D1-48AE-4C09-935F-74854D45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02A43"/>
                </a:solidFill>
              </a:defRPr>
            </a:pPr>
            <a:r>
              <a:rPr sz="1500" b="1" i="0">
                <a:solidFill>
                  <a:srgbClr val="102A43"/>
                </a:solidFill>
              </a:rPr>
              <a:t>The commit manifest is canonical; ChromaDB is the searchable materialized state.</a:t>
            </a:r>
          </a:p>
        </p:txBody>
      </p:sp>
    </p:spTree>
    <p:extLst>
      <p:ext uri="{BB962C8B-B14F-4D97-AF65-F5344CB8AC3E}">
        <p14:creationId xmlns:p14="http://schemas.microsoft.com/office/powerpoint/2010/main" val="20474913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8">
            <a:extLst xmlns:a="http://schemas.openxmlformats.org/drawingml/2006/main">
              <a:ext uri="{FF2B5EF4-FFF2-40B4-BE49-F238E27FC236}">
                <a16:creationId xmlns:a16="http://schemas.microsoft.com/office/drawing/2014/main" id="{BBAEC289-458C-4A7D-BAE4-800A5A2E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A5A8"/>
                </a:solidFill>
              </a:defRPr>
            </a:pPr>
            <a:r>
              <a:rPr sz="975" b="1" i="0">
                <a:solidFill>
                  <a:srgbClr val="0EA5A8"/>
                </a:solidFill>
              </a:rPr>
              <a:t>INCREMENTAL WORKFLOW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3B28D676-8119-4E6F-9240-7749786F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Every commit follows one conservative decision path</a:t>
            </a:r>
          </a:p>
        </p:txBody>
      </p:sp>
      <p:sp>
        <p:nvSpPr>
          <p:cNvPr id="3" name="footer-line-8">
            <a:extLst xmlns:a="http://schemas.openxmlformats.org/drawingml/2006/main">
              <a:ext uri="{FF2B5EF4-FFF2-40B4-BE49-F238E27FC236}">
                <a16:creationId xmlns:a16="http://schemas.microsoft.com/office/drawing/2014/main" id="{0CA43FEB-BC2E-4147-A713-7CBBC95F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420A82E8-A24E-4070-B7E3-BDDE98BB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7D98"/>
                </a:solidFill>
              </a:defRPr>
            </a:pPr>
            <a:r>
              <a:rPr sz="825" b="1" i="0">
                <a:solidFill>
                  <a:srgbClr val="627D98"/>
                </a:solidFill>
              </a:rPr>
              <a:t>GIT FOR EMBEDDINGS  |  SEMESTER PBL</a:t>
            </a:r>
          </a:p>
        </p:txBody>
      </p:sp>
      <p:sp>
        <p:nvSpPr>
          <p:cNvPr id="5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4B5E2161-A783-49E8-87CC-951EB5BA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D98"/>
                </a:solidFill>
              </a:defRPr>
            </a:pPr>
            <a:r>
              <a:rPr sz="900" b="0" i="0">
                <a:solidFill>
                  <a:srgbClr val="627D98"/>
                </a:solidFill>
              </a:rPr>
              <a:t>8</a:t>
            </a:r>
          </a:p>
        </p:txBody>
      </p:sp>
      <p:sp>
        <p:nvSpPr>
          <p:cNvPr id="6" name="flow-scan">
            <a:extLst xmlns:a="http://schemas.openxmlformats.org/drawingml/2006/main">
              <a:ext uri="{FF2B5EF4-FFF2-40B4-BE49-F238E27FC236}">
                <a16:creationId xmlns:a16="http://schemas.microsoft.com/office/drawing/2014/main" id="{1E033007-B6CA-49D5-8A3D-B3E0E7A9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16668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CD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Scan + hash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working state</a:t>
            </a:r>
          </a:p>
        </p:txBody>
      </p:sp>
      <p:sp>
        <p:nvSpPr>
          <p:cNvPr id="7" name="flow-compare">
            <a:extLst xmlns:a="http://schemas.openxmlformats.org/drawingml/2006/main">
              <a:ext uri="{FF2B5EF4-FFF2-40B4-BE49-F238E27FC236}">
                <a16:creationId xmlns:a16="http://schemas.microsoft.com/office/drawing/2014/main" id="{D46F7632-5FCB-4EEB-845F-40601722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76500"/>
            <a:ext cx="1571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363D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Compare with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HEAD</a:t>
            </a:r>
          </a:p>
        </p:txBody>
      </p:sp>
      <p:sp>
        <p:nvSpPr>
          <p:cNvPr id="8" name="flow-unchanged">
            <a:extLst xmlns:a="http://schemas.openxmlformats.org/drawingml/2006/main">
              <a:ext uri="{FF2B5EF4-FFF2-40B4-BE49-F238E27FC236}">
                <a16:creationId xmlns:a16="http://schemas.microsoft.com/office/drawing/2014/main" id="{2E04FA79-C28B-49AD-828E-3EEA24E0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1524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7F8F7"/>
          </a:solidFill>
          <a:ln xmlns:a="http://schemas.openxmlformats.org/drawingml/2006/main" w="9525">
            <a:solidFill>
              <a:srgbClr val="0EA5A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A5A8"/>
                </a:solidFill>
              </a:defRPr>
            </a:pPr>
            <a:r>
              <a:rPr sz="1350" b="1">
                <a:solidFill>
                  <a:srgbClr val="0EA5A8"/>
                </a:solidFill>
              </a:rPr>
              <a:t>Unchanged</a:t>
            </a:r>
          </a:p>
          <a:p xmlns:a="http://schemas.openxmlformats.org/drawingml/2006/main">
            <a:pPr algn="ctr">
              <a:defRPr sz="1350" b="1">
                <a:solidFill>
                  <a:srgbClr val="0EA5A8"/>
                </a:solidFill>
              </a:defRPr>
            </a:pPr>
            <a:r>
              <a:rPr sz="1350" b="1">
                <a:solidFill>
                  <a:srgbClr val="0EA5A8"/>
                </a:solidFill>
              </a:rPr>
              <a:t>Reuse</a:t>
            </a:r>
          </a:p>
        </p:txBody>
      </p:sp>
      <p:sp>
        <p:nvSpPr>
          <p:cNvPr id="9" name="flow-changed">
            <a:extLst xmlns:a="http://schemas.openxmlformats.org/drawingml/2006/main">
              <a:ext uri="{FF2B5EF4-FFF2-40B4-BE49-F238E27FC236}">
                <a16:creationId xmlns:a16="http://schemas.microsoft.com/office/drawing/2014/main" id="{35FAA26F-193F-4363-8D87-0DF30E6D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14625"/>
            <a:ext cx="1524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Changed / stale</a:t>
            </a:r>
          </a:p>
          <a:p xmlns:a="http://schemas.openxmlformats.org/drawingml/2006/main">
            <a:pPr algn="ctr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Regenerate</a:t>
            </a:r>
          </a:p>
        </p:txBody>
      </p:sp>
      <p:sp>
        <p:nvSpPr>
          <p:cNvPr id="10" name="flow-deleted">
            <a:extLst xmlns:a="http://schemas.openxmlformats.org/drawingml/2006/main">
              <a:ext uri="{FF2B5EF4-FFF2-40B4-BE49-F238E27FC236}">
                <a16:creationId xmlns:a16="http://schemas.microsoft.com/office/drawing/2014/main" id="{D7B5296D-A42E-405D-AD52-733D31CD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00500"/>
            <a:ext cx="1524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CCCD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Deleted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Remove ref</a:t>
            </a:r>
          </a:p>
        </p:txBody>
      </p:sp>
      <p:sp>
        <p:nvSpPr>
          <p:cNvPr id="11" name="flow-commit">
            <a:extLst xmlns:a="http://schemas.openxmlformats.org/drawingml/2006/main">
              <a:ext uri="{FF2B5EF4-FFF2-40B4-BE49-F238E27FC236}">
                <a16:creationId xmlns:a16="http://schemas.microsoft.com/office/drawing/2014/main" id="{23EDA333-B455-4330-82F5-1E14B154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Build immutable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commit</a:t>
            </a:r>
          </a:p>
        </p:txBody>
      </p:sp>
      <p:sp>
        <p:nvSpPr>
          <p:cNvPr id="12" name="flow-sync">
            <a:extLst xmlns:a="http://schemas.openxmlformats.org/drawingml/2006/main">
              <a:ext uri="{FF2B5EF4-FFF2-40B4-BE49-F238E27FC236}">
                <a16:creationId xmlns:a16="http://schemas.microsoft.com/office/drawing/2014/main" id="{3DA636B2-E885-4758-B00E-EA858CDA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CD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Advance ref +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sync vector store</a:t>
            </a:r>
          </a:p>
        </p:txBody>
      </p:sp>
      <p:cxnSp>
        <p:nvCxnSpPr>
          <p:cNvPr id="3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190750" y="29051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7D98"/>
            </a:solidFill>
            <a:prstDash val="solid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4286250" y="1809750"/>
            <a:ext cx="714375" cy="1095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EA5A8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86250" y="2905125"/>
            <a:ext cx="714375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D97706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286250" y="2905125"/>
            <a:ext cx="714375" cy="1476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27D98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524625" y="1809750"/>
            <a:ext cx="809625" cy="1095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EA5A8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6524625" y="2905125"/>
            <a:ext cx="809625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D97706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6524625" y="2905125"/>
            <a:ext cx="809625" cy="1476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27D98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048750" y="29051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7D98"/>
            </a:solidFill>
            <a:prstDash val="solid"/>
            <a:tailEnd type="arrow" w="med" len="med"/>
          </a:ln>
        </p:spPr>
      </p:cxnSp>
      <p:sp>
        <p:nvSpPr>
          <p:cNvPr id="21" name="flow-bottom">
            <a:extLst xmlns:a="http://schemas.openxmlformats.org/drawingml/2006/main">
              <a:ext uri="{FF2B5EF4-FFF2-40B4-BE49-F238E27FC236}">
                <a16:creationId xmlns:a16="http://schemas.microsoft.com/office/drawing/2014/main" id="{926791B3-9EBC-47BC-8E59-3BEF1EED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02A43"/>
                </a:solidFill>
              </a:defRPr>
            </a:pPr>
            <a:r>
              <a:rPr sz="2025" b="1" i="0">
                <a:solidFill>
                  <a:srgbClr val="102A43"/>
                </a:solidFill>
              </a:rPr>
              <a:t>Result: one new snapshot, zero unnecessary duplicate vectors.</a:t>
            </a:r>
          </a:p>
        </p:txBody>
      </p:sp>
    </p:spTree>
    <p:extLst>
      <p:ext uri="{BB962C8B-B14F-4D97-AF65-F5344CB8AC3E}">
        <p14:creationId xmlns:p14="http://schemas.microsoft.com/office/powerpoint/2010/main" val="4969162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9">
            <a:extLst xmlns:a="http://schemas.openxmlformats.org/drawingml/2006/main">
              <a:ext uri="{FF2B5EF4-FFF2-40B4-BE49-F238E27FC236}">
                <a16:creationId xmlns:a16="http://schemas.microsoft.com/office/drawing/2014/main" id="{75A517F2-C9B9-4DCB-8594-3A73822D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A5A8"/>
                </a:solidFill>
              </a:defRPr>
            </a:pPr>
            <a:r>
              <a:rPr sz="975" b="1" i="0">
                <a:solidFill>
                  <a:srgbClr val="0EA5A8"/>
                </a:solidFill>
              </a:rPr>
              <a:t>CORRECTNESS BOUNDARY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EC5C9CE9-17F3-4DD3-8E86-E9670A6B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Reuse requires the same chunk and the same effective configuration</a:t>
            </a:r>
          </a:p>
        </p:txBody>
      </p:sp>
      <p:sp>
        <p:nvSpPr>
          <p:cNvPr id="3" name="footer-line-9">
            <a:extLst xmlns:a="http://schemas.openxmlformats.org/drawingml/2006/main">
              <a:ext uri="{FF2B5EF4-FFF2-40B4-BE49-F238E27FC236}">
                <a16:creationId xmlns:a16="http://schemas.microsoft.com/office/drawing/2014/main" id="{B14207CE-3AEF-4425-A499-EDC815C4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65E80984-2D9A-4101-B948-B47B4D9B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7D98"/>
                </a:solidFill>
              </a:defRPr>
            </a:pPr>
            <a:r>
              <a:rPr sz="825" b="1" i="0">
                <a:solidFill>
                  <a:srgbClr val="627D98"/>
                </a:solidFill>
              </a:rPr>
              <a:t>GIT FOR EMBEDDINGS  |  SEMESTER PBL</a:t>
            </a:r>
          </a:p>
        </p:txBody>
      </p:sp>
      <p:sp>
        <p:nvSpPr>
          <p:cNvPr id="5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8BB7C6B2-1C16-430D-BEAA-878BDC93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D98"/>
                </a:solidFill>
              </a:defRPr>
            </a:pPr>
            <a:r>
              <a:rPr sz="900" b="0" i="0">
                <a:solidFill>
                  <a:srgbClr val="627D98"/>
                </a:solidFill>
              </a:rPr>
              <a:t>9</a:t>
            </a:r>
          </a:p>
        </p:txBody>
      </p:sp>
      <p:sp>
        <p:nvSpPr>
          <p:cNvPr id="6" name="rules-formula">
            <a:extLst xmlns:a="http://schemas.openxmlformats.org/drawingml/2006/main">
              <a:ext uri="{FF2B5EF4-FFF2-40B4-BE49-F238E27FC236}">
                <a16:creationId xmlns:a16="http://schemas.microsoft.com/office/drawing/2014/main" id="{DC608BFC-76B6-4853-85D1-448AE5AA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73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363DF"/>
                </a:solidFill>
              </a:defRPr>
            </a:pPr>
            <a:r>
              <a:rPr sz="1650" b="1" i="0">
                <a:solidFill>
                  <a:srgbClr val="1363DF"/>
                </a:solidFill>
              </a:rPr>
              <a:t>reusable = same chunk hash  AND  same embedding-config hash  AND  valid object</a:t>
            </a:r>
          </a:p>
        </p:txBody>
      </p:sp>
      <p:graphicFrame>
        <p:nvGraphicFramePr>
          <p:cNvPr id="15" name="reuse-table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000500"/>
                <a:gridCol w="2476500"/>
                <a:gridCol w="4381500"/>
              </a:tblGrid>
              <a:tr h="5556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Condition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Class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Required action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B53"/>
                          </a:solidFill>
                        </a:rPr>
                        <a:t>Same chunk + same config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B53"/>
                          </a:solidFill>
                        </a:rPr>
                        <a:t>UNCHANGED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B53"/>
                          </a:solidFill>
                        </a:rPr>
                        <a:t>Reuse object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B53"/>
                          </a:solidFill>
                        </a:rPr>
                        <a:t>Changed or new chunk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B53"/>
                          </a:solidFill>
                        </a:rPr>
                        <a:t>MODIFIED / ADDED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B53"/>
                          </a:solidFill>
                        </a:rPr>
                        <a:t>Generate affected vector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B53"/>
                          </a:solidFill>
                        </a:rPr>
                        <a:t>Same chunk + changed config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B53"/>
                          </a:solidFill>
                        </a:rPr>
                        <a:t>STALE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B53"/>
                          </a:solidFill>
                        </a:rPr>
                        <a:t>Regenerate before commit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B53"/>
                          </a:solidFill>
                        </a:rPr>
                        <a:t>Deleted chunk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B53"/>
                          </a:solidFill>
                        </a:rPr>
                        <a:t>DELETED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B53"/>
                          </a:solidFill>
                        </a:rPr>
                        <a:t>Remove reference + sync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B53"/>
                          </a:solidFill>
                        </a:rPr>
                        <a:t>Embedding model changed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B53"/>
                          </a:solidFill>
                        </a:rPr>
                        <a:t>MAJOR / EXPERIMENT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B53"/>
                          </a:solidFill>
                        </a:rPr>
                        <a:t>Regenerate collection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ules-warning">
            <a:extLst xmlns:a="http://schemas.openxmlformats.org/drawingml/2006/main">
              <a:ext uri="{FF2B5EF4-FFF2-40B4-BE49-F238E27FC236}">
                <a16:creationId xmlns:a16="http://schemas.microsoft.com/office/drawing/2014/main" id="{D0289702-DA66-4C97-A157-634B90D8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721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Equal dimensions do not make two embedding spaces compatible.</a:t>
            </a:r>
          </a:p>
        </p:txBody>
      </p:sp>
    </p:spTree>
    <p:extLst>
      <p:ext uri="{BB962C8B-B14F-4D97-AF65-F5344CB8AC3E}">
        <p14:creationId xmlns:p14="http://schemas.microsoft.com/office/powerpoint/2010/main" val="13800290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10">
            <a:extLst xmlns:a="http://schemas.openxmlformats.org/drawingml/2006/main">
              <a:ext uri="{FF2B5EF4-FFF2-40B4-BE49-F238E27FC236}">
                <a16:creationId xmlns:a16="http://schemas.microsoft.com/office/drawing/2014/main" id="{82539C7D-8EF0-493D-BBBF-726991D9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A5A8"/>
                </a:solidFill>
              </a:defRPr>
            </a:pPr>
            <a:r>
              <a:rPr sz="975" b="1" i="0">
                <a:solidFill>
                  <a:srgbClr val="0EA5A8"/>
                </a:solidFill>
              </a:rPr>
              <a:t>GIT-INSPIRED CONCEPTS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466F67AB-8011-481E-94D0-8FE977FF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Git provides the mental model - embeddings require new semantics</a:t>
            </a:r>
          </a:p>
        </p:txBody>
      </p:sp>
      <p:sp>
        <p:nvSpPr>
          <p:cNvPr id="3" name="footer-line-10">
            <a:extLst xmlns:a="http://schemas.openxmlformats.org/drawingml/2006/main">
              <a:ext uri="{FF2B5EF4-FFF2-40B4-BE49-F238E27FC236}">
                <a16:creationId xmlns:a16="http://schemas.microsoft.com/office/drawing/2014/main" id="{8A7B9707-D0C1-4D80-A3D2-5A201157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556DC145-8013-4734-86AA-E08DB026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7D98"/>
                </a:solidFill>
              </a:defRPr>
            </a:pPr>
            <a:r>
              <a:rPr sz="825" b="1" i="0">
                <a:solidFill>
                  <a:srgbClr val="627D98"/>
                </a:solidFill>
              </a:rPr>
              <a:t>GIT FOR EMBEDDINGS  |  SEMESTER PBL</a:t>
            </a:r>
          </a:p>
        </p:txBody>
      </p:sp>
      <p:sp>
        <p:nvSpPr>
          <p:cNvPr id="5" name="footer-number-10">
            <a:extLst xmlns:a="http://schemas.openxmlformats.org/drawingml/2006/main">
              <a:ext uri="{FF2B5EF4-FFF2-40B4-BE49-F238E27FC236}">
                <a16:creationId xmlns:a16="http://schemas.microsoft.com/office/drawing/2014/main" id="{AE32300D-2D47-4B05-B804-6C2CDA0C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D98"/>
                </a:solidFill>
              </a:defRPr>
            </a:pPr>
            <a:r>
              <a:rPr sz="900" b="0" i="0">
                <a:solidFill>
                  <a:srgbClr val="627D98"/>
                </a:solidFill>
              </a:rPr>
              <a:t>10</a:t>
            </a:r>
          </a:p>
        </p:txBody>
      </p:sp>
      <p:sp>
        <p:nvSpPr>
          <p:cNvPr id="6" name="git-term-0">
            <a:extLst xmlns:a="http://schemas.openxmlformats.org/drawingml/2006/main">
              <a:ext uri="{FF2B5EF4-FFF2-40B4-BE49-F238E27FC236}">
                <a16:creationId xmlns:a16="http://schemas.microsoft.com/office/drawing/2014/main" id="{15FEA3BE-89F5-4272-830C-7453B0FD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363DF"/>
                </a:solidFill>
              </a:defRPr>
            </a:pPr>
            <a:r>
              <a:rPr sz="2025" b="1" i="0">
                <a:solidFill>
                  <a:srgbClr val="1363DF"/>
                </a:solidFill>
              </a:rPr>
              <a:t>Repository</a:t>
            </a:r>
          </a:p>
        </p:txBody>
      </p:sp>
      <p:sp>
        <p:nvSpPr>
          <p:cNvPr id="7" name="git-line-0">
            <a:extLst xmlns:a="http://schemas.openxmlformats.org/drawingml/2006/main">
              <a:ext uri="{FF2B5EF4-FFF2-40B4-BE49-F238E27FC236}">
                <a16:creationId xmlns:a16="http://schemas.microsoft.com/office/drawing/2014/main" id="{B5A79C7A-5D27-4437-A454-8310EFE8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19250"/>
            <a:ext cx="19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it-desc-0">
            <a:extLst xmlns:a="http://schemas.openxmlformats.org/drawingml/2006/main">
              <a:ext uri="{FF2B5EF4-FFF2-40B4-BE49-F238E27FC236}">
                <a16:creationId xmlns:a16="http://schemas.microsoft.com/office/drawing/2014/main" id="{3103D528-867C-4F6A-A2E3-3EB91E07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71625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Documents, configuration, objects, refs, and history</a:t>
            </a:r>
          </a:p>
        </p:txBody>
      </p:sp>
      <p:sp>
        <p:nvSpPr>
          <p:cNvPr id="9" name="git-term-1">
            <a:extLst xmlns:a="http://schemas.openxmlformats.org/drawingml/2006/main">
              <a:ext uri="{FF2B5EF4-FFF2-40B4-BE49-F238E27FC236}">
                <a16:creationId xmlns:a16="http://schemas.microsoft.com/office/drawing/2014/main" id="{2CCBFEE5-BF11-478A-BFF1-65CF9CDA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0325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363DF"/>
                </a:solidFill>
              </a:defRPr>
            </a:pPr>
            <a:r>
              <a:rPr sz="2025" b="1" i="0">
                <a:solidFill>
                  <a:srgbClr val="1363DF"/>
                </a:solidFill>
              </a:rPr>
              <a:t>Object</a:t>
            </a:r>
          </a:p>
        </p:txBody>
      </p:sp>
      <p:sp>
        <p:nvSpPr>
          <p:cNvPr id="10" name="git-line-1">
            <a:extLst xmlns:a="http://schemas.openxmlformats.org/drawingml/2006/main">
              <a:ext uri="{FF2B5EF4-FFF2-40B4-BE49-F238E27FC236}">
                <a16:creationId xmlns:a16="http://schemas.microsoft.com/office/drawing/2014/main" id="{25AAE560-E83D-45E2-BEEB-2BD58D97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47950"/>
            <a:ext cx="19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it-desc-1">
            <a:extLst xmlns:a="http://schemas.openxmlformats.org/drawingml/2006/main">
              <a:ext uri="{FF2B5EF4-FFF2-40B4-BE49-F238E27FC236}">
                <a16:creationId xmlns:a16="http://schemas.microsoft.com/office/drawing/2014/main" id="{8D08B751-C5D8-44A5-98C6-EDCB81A0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0325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Immutable chunk or embedding stored by content hash</a:t>
            </a:r>
          </a:p>
        </p:txBody>
      </p:sp>
      <p:sp>
        <p:nvSpPr>
          <p:cNvPr id="12" name="git-term-2">
            <a:extLst xmlns:a="http://schemas.openxmlformats.org/drawingml/2006/main">
              <a:ext uri="{FF2B5EF4-FFF2-40B4-BE49-F238E27FC236}">
                <a16:creationId xmlns:a16="http://schemas.microsoft.com/office/drawing/2014/main" id="{E6919772-3CA8-497C-80A6-99036AEF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29025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363DF"/>
                </a:solidFill>
              </a:defRPr>
            </a:pPr>
            <a:r>
              <a:rPr sz="2025" b="1" i="0">
                <a:solidFill>
                  <a:srgbClr val="1363DF"/>
                </a:solidFill>
              </a:rPr>
              <a:t>Commit</a:t>
            </a:r>
          </a:p>
        </p:txBody>
      </p:sp>
      <p:sp>
        <p:nvSpPr>
          <p:cNvPr id="13" name="git-line-2">
            <a:extLst xmlns:a="http://schemas.openxmlformats.org/drawingml/2006/main">
              <a:ext uri="{FF2B5EF4-FFF2-40B4-BE49-F238E27FC236}">
                <a16:creationId xmlns:a16="http://schemas.microsoft.com/office/drawing/2014/main" id="{77E136C0-A6C9-4D7A-B27E-FF63D686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76650"/>
            <a:ext cx="19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it-desc-2">
            <a:extLst xmlns:a="http://schemas.openxmlformats.org/drawingml/2006/main">
              <a:ext uri="{FF2B5EF4-FFF2-40B4-BE49-F238E27FC236}">
                <a16:creationId xmlns:a16="http://schemas.microsoft.com/office/drawing/2014/main" id="{CDA9CB4B-D316-46C1-BD35-9AFE3936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29025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Manifest linking exact chunks, vectors, config, and parent</a:t>
            </a:r>
          </a:p>
        </p:txBody>
      </p:sp>
      <p:sp>
        <p:nvSpPr>
          <p:cNvPr id="15" name="git-term-3">
            <a:extLst xmlns:a="http://schemas.openxmlformats.org/drawingml/2006/main">
              <a:ext uri="{FF2B5EF4-FFF2-40B4-BE49-F238E27FC236}">
                <a16:creationId xmlns:a16="http://schemas.microsoft.com/office/drawing/2014/main" id="{4E9924FC-A170-4244-B197-73C0A5CB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7725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363DF"/>
                </a:solidFill>
              </a:defRPr>
            </a:pPr>
            <a:r>
              <a:rPr sz="2025" b="1" i="0">
                <a:solidFill>
                  <a:srgbClr val="1363DF"/>
                </a:solidFill>
              </a:rPr>
              <a:t>Branch</a:t>
            </a:r>
          </a:p>
        </p:txBody>
      </p:sp>
      <p:sp>
        <p:nvSpPr>
          <p:cNvPr id="16" name="git-line-3">
            <a:extLst xmlns:a="http://schemas.openxmlformats.org/drawingml/2006/main">
              <a:ext uri="{FF2B5EF4-FFF2-40B4-BE49-F238E27FC236}">
                <a16:creationId xmlns:a16="http://schemas.microsoft.com/office/drawing/2014/main" id="{DF62C769-3EAE-4F22-8F9F-26E7DA30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05350"/>
            <a:ext cx="19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it-desc-3">
            <a:extLst xmlns:a="http://schemas.openxmlformats.org/drawingml/2006/main">
              <a:ext uri="{FF2B5EF4-FFF2-40B4-BE49-F238E27FC236}">
                <a16:creationId xmlns:a16="http://schemas.microsoft.com/office/drawing/2014/main" id="{77BF14C9-B246-4DE3-8285-B9C0B45E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57725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Isolated model, chunking, or retrieval experiment</a:t>
            </a:r>
          </a:p>
        </p:txBody>
      </p:sp>
      <p:sp>
        <p:nvSpPr>
          <p:cNvPr id="18" name="git-boundary">
            <a:extLst xmlns:a="http://schemas.openxmlformats.org/drawingml/2006/main">
              <a:ext uri="{FF2B5EF4-FFF2-40B4-BE49-F238E27FC236}">
                <a16:creationId xmlns:a16="http://schemas.microsoft.com/office/drawing/2014/main" id="{37C52BEE-B1DA-4B53-8D2A-C870EBE3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2A43"/>
                </a:solidFill>
              </a:defRPr>
            </a:pPr>
            <a:r>
              <a:rPr sz="1725" b="1" i="0">
                <a:solidFill>
                  <a:srgbClr val="102A43"/>
                </a:solidFill>
              </a:rPr>
              <a:t>Git still versions the source code. This system versions large embedding artifacts and their provenance.</a:t>
            </a:r>
          </a:p>
        </p:txBody>
      </p:sp>
    </p:spTree>
    <p:extLst>
      <p:ext uri="{BB962C8B-B14F-4D97-AF65-F5344CB8AC3E}">
        <p14:creationId xmlns:p14="http://schemas.microsoft.com/office/powerpoint/2010/main" val="9835686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11">
            <a:extLst xmlns:a="http://schemas.openxmlformats.org/drawingml/2006/main">
              <a:ext uri="{FF2B5EF4-FFF2-40B4-BE49-F238E27FC236}">
                <a16:creationId xmlns:a16="http://schemas.microsoft.com/office/drawing/2014/main" id="{09017A92-A103-481E-81FB-DCC63207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A5A8"/>
                </a:solidFill>
              </a:defRPr>
            </a:pPr>
            <a:r>
              <a:rPr sz="975" b="1" i="0">
                <a:solidFill>
                  <a:srgbClr val="0EA5A8"/>
                </a:solidFill>
              </a:rPr>
              <a:t>SCOPE AND TECHNOLOGY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FCD5DB2E-2D4B-4441-B47A-F3CDF48B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The semester MVP is deliberately local, testable, and extensible</a:t>
            </a:r>
          </a:p>
        </p:txBody>
      </p:sp>
      <p:sp>
        <p:nvSpPr>
          <p:cNvPr id="3" name="footer-line-11">
            <a:extLst xmlns:a="http://schemas.openxmlformats.org/drawingml/2006/main">
              <a:ext uri="{FF2B5EF4-FFF2-40B4-BE49-F238E27FC236}">
                <a16:creationId xmlns:a16="http://schemas.microsoft.com/office/drawing/2014/main" id="{BAAE9DD5-3472-43B7-B228-0DEF8986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-11">
            <a:extLst xmlns:a="http://schemas.openxmlformats.org/drawingml/2006/main">
              <a:ext uri="{FF2B5EF4-FFF2-40B4-BE49-F238E27FC236}">
                <a16:creationId xmlns:a16="http://schemas.microsoft.com/office/drawing/2014/main" id="{6EE4BBCB-D6ED-4469-92B3-B2CBBD66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7D98"/>
                </a:solidFill>
              </a:defRPr>
            </a:pPr>
            <a:r>
              <a:rPr sz="825" b="1" i="0">
                <a:solidFill>
                  <a:srgbClr val="627D98"/>
                </a:solidFill>
              </a:rPr>
              <a:t>GIT FOR EMBEDDINGS  |  SEMESTER PBL</a:t>
            </a:r>
          </a:p>
        </p:txBody>
      </p:sp>
      <p:sp>
        <p:nvSpPr>
          <p:cNvPr id="5" name="footer-number-11">
            <a:extLst xmlns:a="http://schemas.openxmlformats.org/drawingml/2006/main">
              <a:ext uri="{FF2B5EF4-FFF2-40B4-BE49-F238E27FC236}">
                <a16:creationId xmlns:a16="http://schemas.microsoft.com/office/drawing/2014/main" id="{6841B758-4FD3-4053-8074-5B5D5014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D98"/>
                </a:solidFill>
              </a:defRPr>
            </a:pPr>
            <a:r>
              <a:rPr sz="900" b="0" i="0">
                <a:solidFill>
                  <a:srgbClr val="627D98"/>
                </a:solidFill>
              </a:rPr>
              <a:t>11</a:t>
            </a:r>
          </a:p>
        </p:txBody>
      </p:sp>
      <p:sp>
        <p:nvSpPr>
          <p:cNvPr id="6" name="mvp-accent-0">
            <a:extLst xmlns:a="http://schemas.openxmlformats.org/drawingml/2006/main">
              <a:ext uri="{FF2B5EF4-FFF2-40B4-BE49-F238E27FC236}">
                <a16:creationId xmlns:a16="http://schemas.microsoft.com/office/drawing/2014/main" id="{8998271A-270C-4699-9097-8E2E2F06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vp-title-0">
            <a:extLst xmlns:a="http://schemas.openxmlformats.org/drawingml/2006/main">
              <a:ext uri="{FF2B5EF4-FFF2-40B4-BE49-F238E27FC236}">
                <a16:creationId xmlns:a16="http://schemas.microsoft.com/office/drawing/2014/main" id="{572778A5-3111-4499-AA9B-12CA2040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</a:defRPr>
            </a:pPr>
            <a:r>
              <a:rPr sz="2025" b="1" i="0">
                <a:solidFill>
                  <a:srgbClr val="102A43"/>
                </a:solidFill>
              </a:rPr>
              <a:t>Pipeline</a:t>
            </a:r>
          </a:p>
        </p:txBody>
      </p:sp>
      <p:sp>
        <p:nvSpPr>
          <p:cNvPr id="8" name="mvp-body-0">
            <a:extLst xmlns:a="http://schemas.openxmlformats.org/drawingml/2006/main">
              <a:ext uri="{FF2B5EF4-FFF2-40B4-BE49-F238E27FC236}">
                <a16:creationId xmlns:a16="http://schemas.microsoft.com/office/drawing/2014/main" id="{563DE28A-9491-4AF9-B367-DBC508E1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3333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43B53"/>
                </a:solidFill>
              </a:defRPr>
            </a:pPr>
            <a:r>
              <a:rPr sz="1575" b="0" i="0">
                <a:solidFill>
                  <a:srgbClr val="243B53"/>
                </a:solidFill>
              </a:rPr>
              <a:t>TXT / Markdown / PDF</a:t>
            </a:r>
          </a:p>
          <a:p xmlns:a="http://schemas.openxmlformats.org/drawingml/2006/main">
            <a:pPr algn="l">
              <a:defRPr sz="1575" b="0" i="0">
                <a:solidFill>
                  <a:srgbClr val="243B53"/>
                </a:solidFill>
              </a:defRPr>
            </a:pPr>
            <a:r>
              <a:rPr sz="1575" b="0" i="0">
                <a:solidFill>
                  <a:srgbClr val="243B53"/>
                </a:solidFill>
              </a:rPr>
              <a:t>Deterministic chunking</a:t>
            </a:r>
          </a:p>
          <a:p xmlns:a="http://schemas.openxmlformats.org/drawingml/2006/main">
            <a:pPr algn="l">
              <a:defRPr sz="1575" b="0" i="0">
                <a:solidFill>
                  <a:srgbClr val="243B53"/>
                </a:solidFill>
              </a:defRPr>
            </a:pPr>
            <a:r>
              <a:rPr sz="1575" b="0" i="0">
                <a:solidFill>
                  <a:srgbClr val="243B53"/>
                </a:solidFill>
              </a:rPr>
              <a:t>Sentence Transformers</a:t>
            </a:r>
          </a:p>
        </p:txBody>
      </p:sp>
      <p:sp>
        <p:nvSpPr>
          <p:cNvPr id="9" name="mvp-accent-1">
            <a:extLst xmlns:a="http://schemas.openxmlformats.org/drawingml/2006/main">
              <a:ext uri="{FF2B5EF4-FFF2-40B4-BE49-F238E27FC236}">
                <a16:creationId xmlns:a16="http://schemas.microsoft.com/office/drawing/2014/main" id="{6DE239E6-968C-4C05-8CBC-7B600175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66875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vp-title-1">
            <a:extLst xmlns:a="http://schemas.openxmlformats.org/drawingml/2006/main">
              <a:ext uri="{FF2B5EF4-FFF2-40B4-BE49-F238E27FC236}">
                <a16:creationId xmlns:a16="http://schemas.microsoft.com/office/drawing/2014/main" id="{4DFAEEEB-D5F1-4A75-9DEB-B0D05B5F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4787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</a:defRPr>
            </a:pPr>
            <a:r>
              <a:rPr sz="2025" b="1" i="0">
                <a:solidFill>
                  <a:srgbClr val="102A43"/>
                </a:solidFill>
              </a:rPr>
              <a:t>Versioning core</a:t>
            </a:r>
          </a:p>
        </p:txBody>
      </p:sp>
      <p:sp>
        <p:nvSpPr>
          <p:cNvPr id="11" name="mvp-body-1">
            <a:extLst xmlns:a="http://schemas.openxmlformats.org/drawingml/2006/main">
              <a:ext uri="{FF2B5EF4-FFF2-40B4-BE49-F238E27FC236}">
                <a16:creationId xmlns:a16="http://schemas.microsoft.com/office/drawing/2014/main" id="{F0866D04-4852-4DD6-B337-DFB7C622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57500"/>
            <a:ext cx="3333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43B53"/>
                </a:solidFill>
              </a:defRPr>
            </a:pPr>
            <a:r>
              <a:rPr sz="1575" b="0" i="0">
                <a:solidFill>
                  <a:srgbClr val="243B53"/>
                </a:solidFill>
              </a:rPr>
              <a:t>SHA-256 hashes</a:t>
            </a:r>
          </a:p>
          <a:p xmlns:a="http://schemas.openxmlformats.org/drawingml/2006/main">
            <a:pPr algn="l">
              <a:defRPr sz="1575" b="0" i="0">
                <a:solidFill>
                  <a:srgbClr val="243B53"/>
                </a:solidFill>
              </a:defRPr>
            </a:pPr>
            <a:r>
              <a:rPr sz="1575" b="0" i="0">
                <a:solidFill>
                  <a:srgbClr val="243B53"/>
                </a:solidFill>
              </a:rPr>
              <a:t>Immutable objects + commits</a:t>
            </a:r>
          </a:p>
          <a:p xmlns:a="http://schemas.openxmlformats.org/drawingml/2006/main">
            <a:pPr algn="l">
              <a:defRPr sz="1575" b="0" i="0">
                <a:solidFill>
                  <a:srgbClr val="243B53"/>
                </a:solidFill>
              </a:defRPr>
            </a:pPr>
            <a:r>
              <a:rPr sz="1575" b="0" i="0">
                <a:solidFill>
                  <a:srgbClr val="243B53"/>
                </a:solidFill>
              </a:rPr>
              <a:t>Diff, log, checkout</a:t>
            </a:r>
          </a:p>
        </p:txBody>
      </p:sp>
      <p:sp>
        <p:nvSpPr>
          <p:cNvPr id="12" name="mvp-accent-2">
            <a:extLst xmlns:a="http://schemas.openxmlformats.org/drawingml/2006/main">
              <a:ext uri="{FF2B5EF4-FFF2-40B4-BE49-F238E27FC236}">
                <a16:creationId xmlns:a16="http://schemas.microsoft.com/office/drawing/2014/main" id="{5BEFEB7A-83E6-449A-84D4-09E97FA9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66875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vp-title-2">
            <a:extLst xmlns:a="http://schemas.openxmlformats.org/drawingml/2006/main">
              <a:ext uri="{FF2B5EF4-FFF2-40B4-BE49-F238E27FC236}">
                <a16:creationId xmlns:a16="http://schemas.microsoft.com/office/drawing/2014/main" id="{FA2A8340-7C9E-4737-851B-312EA783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4787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</a:defRPr>
            </a:pPr>
            <a:r>
              <a:rPr sz="2025" b="1" i="0">
                <a:solidFill>
                  <a:srgbClr val="102A43"/>
                </a:solidFill>
              </a:rPr>
              <a:t>Serving + evaluation</a:t>
            </a:r>
          </a:p>
        </p:txBody>
      </p:sp>
      <p:sp>
        <p:nvSpPr>
          <p:cNvPr id="14" name="mvp-body-2">
            <a:extLst xmlns:a="http://schemas.openxmlformats.org/drawingml/2006/main">
              <a:ext uri="{FF2B5EF4-FFF2-40B4-BE49-F238E27FC236}">
                <a16:creationId xmlns:a16="http://schemas.microsoft.com/office/drawing/2014/main" id="{BE20329E-B75F-4B72-AA8D-CA3BB3C7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57500"/>
            <a:ext cx="3333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43B53"/>
                </a:solidFill>
              </a:defRPr>
            </a:pPr>
            <a:r>
              <a:rPr sz="1575" b="0" i="0">
                <a:solidFill>
                  <a:srgbClr val="243B53"/>
                </a:solidFill>
              </a:rPr>
              <a:t>ChromaDB adapter</a:t>
            </a:r>
          </a:p>
          <a:p xmlns:a="http://schemas.openxmlformats.org/drawingml/2006/main">
            <a:pPr algn="l">
              <a:defRPr sz="1575" b="0" i="0">
                <a:solidFill>
                  <a:srgbClr val="243B53"/>
                </a:solidFill>
              </a:defRPr>
            </a:pPr>
            <a:r>
              <a:rPr sz="1575" b="0" i="0">
                <a:solidFill>
                  <a:srgbClr val="243B53"/>
                </a:solidFill>
              </a:rPr>
              <a:t>Typer CLI</a:t>
            </a:r>
          </a:p>
          <a:p xmlns:a="http://schemas.openxmlformats.org/drawingml/2006/main">
            <a:pPr algn="l">
              <a:defRPr sz="1575" b="0" i="0">
                <a:solidFill>
                  <a:srgbClr val="243B53"/>
                </a:solidFill>
              </a:defRPr>
            </a:pPr>
            <a:r>
              <a:rPr sz="1575" b="0" i="0">
                <a:solidFill>
                  <a:srgbClr val="243B53"/>
                </a:solidFill>
              </a:rPr>
              <a:t>Pytest + benchmarks</a:t>
            </a:r>
          </a:p>
        </p:txBody>
      </p:sp>
      <p:sp>
        <p:nvSpPr>
          <p:cNvPr id="15" name="mvp-out">
            <a:extLst xmlns:a="http://schemas.openxmlformats.org/drawingml/2006/main">
              <a:ext uri="{FF2B5EF4-FFF2-40B4-BE49-F238E27FC236}">
                <a16:creationId xmlns:a16="http://schemas.microsoft.com/office/drawing/2014/main" id="{6007DE5E-7232-4C12-985F-591819CB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768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27D98"/>
                </a:solidFill>
              </a:defRPr>
            </a:pPr>
            <a:r>
              <a:rPr sz="1500" b="0" i="0">
                <a:solidFill>
                  <a:srgbClr val="627D98"/>
                </a:solidFill>
              </a:rPr>
              <a:t>Out of scope: distributed collaboration, authentication, GPU clusters, and guaranteed cross-model alignment.</a:t>
            </a:r>
          </a:p>
        </p:txBody>
      </p:sp>
    </p:spTree>
    <p:extLst>
      <p:ext uri="{BB962C8B-B14F-4D97-AF65-F5344CB8AC3E}">
        <p14:creationId xmlns:p14="http://schemas.microsoft.com/office/powerpoint/2010/main" val="8617458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12">
            <a:extLst xmlns:a="http://schemas.openxmlformats.org/drawingml/2006/main">
              <a:ext uri="{FF2B5EF4-FFF2-40B4-BE49-F238E27FC236}">
                <a16:creationId xmlns:a16="http://schemas.microsoft.com/office/drawing/2014/main" id="{3351F654-F33D-4017-ABBC-05A59173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A5A8"/>
                </a:solidFill>
              </a:defRPr>
            </a:pPr>
            <a:r>
              <a:rPr sz="975" b="1" i="0">
                <a:solidFill>
                  <a:srgbClr val="0EA5A8"/>
                </a:solidFill>
              </a:rPr>
              <a:t>EXPERIMENTAL METHODOLOGY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EAFED293-EA79-47D7-B4C7-514742D7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We compare against two practical regeneration baselines</a:t>
            </a:r>
          </a:p>
        </p:txBody>
      </p:sp>
      <p:sp>
        <p:nvSpPr>
          <p:cNvPr id="3" name="footer-line-12">
            <a:extLst xmlns:a="http://schemas.openxmlformats.org/drawingml/2006/main">
              <a:ext uri="{FF2B5EF4-FFF2-40B4-BE49-F238E27FC236}">
                <a16:creationId xmlns:a16="http://schemas.microsoft.com/office/drawing/2014/main" id="{2A1B1BC2-18FF-43B1-83B8-0C89C60E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-12">
            <a:extLst xmlns:a="http://schemas.openxmlformats.org/drawingml/2006/main">
              <a:ext uri="{FF2B5EF4-FFF2-40B4-BE49-F238E27FC236}">
                <a16:creationId xmlns:a16="http://schemas.microsoft.com/office/drawing/2014/main" id="{76E265FA-778E-49D4-AE1C-38E82593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7D98"/>
                </a:solidFill>
              </a:defRPr>
            </a:pPr>
            <a:r>
              <a:rPr sz="825" b="1" i="0">
                <a:solidFill>
                  <a:srgbClr val="627D98"/>
                </a:solidFill>
              </a:rPr>
              <a:t>GIT FOR EMBEDDINGS  |  SEMESTER PBL</a:t>
            </a:r>
          </a:p>
        </p:txBody>
      </p:sp>
      <p:sp>
        <p:nvSpPr>
          <p:cNvPr id="5" name="footer-number-12">
            <a:extLst xmlns:a="http://schemas.openxmlformats.org/drawingml/2006/main">
              <a:ext uri="{FF2B5EF4-FFF2-40B4-BE49-F238E27FC236}">
                <a16:creationId xmlns:a16="http://schemas.microsoft.com/office/drawing/2014/main" id="{14475FB0-8343-421B-B6FD-204E3A03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D98"/>
                </a:solidFill>
              </a:defRPr>
            </a:pPr>
            <a:r>
              <a:rPr sz="900" b="0" i="0">
                <a:solidFill>
                  <a:srgbClr val="627D98"/>
                </a:solidFill>
              </a:rPr>
              <a:t>12</a:t>
            </a:r>
          </a:p>
        </p:txBody>
      </p:sp>
      <p:sp>
        <p:nvSpPr>
          <p:cNvPr id="6" name="exp-question">
            <a:extLst xmlns:a="http://schemas.openxmlformats.org/drawingml/2006/main">
              <a:ext uri="{FF2B5EF4-FFF2-40B4-BE49-F238E27FC236}">
                <a16:creationId xmlns:a16="http://schemas.microsoft.com/office/drawing/2014/main" id="{711C2F94-1852-41F6-8423-A0CA0DC0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02A43"/>
                </a:solidFill>
              </a:defRPr>
            </a:pPr>
            <a:r>
              <a:rPr sz="2025" b="1" i="0">
                <a:solidFill>
                  <a:srgbClr val="102A43"/>
                </a:solidFill>
              </a:rPr>
              <a:t>Can chunk-level regeneration reduce update cost while preserving retrieval quality and reproducibility?</a:t>
            </a:r>
          </a:p>
        </p:txBody>
      </p:sp>
      <p:sp>
        <p:nvSpPr>
          <p:cNvPr id="7" name="exp-panel-0">
            <a:extLst xmlns:a="http://schemas.openxmlformats.org/drawingml/2006/main">
              <a:ext uri="{FF2B5EF4-FFF2-40B4-BE49-F238E27FC236}">
                <a16:creationId xmlns:a16="http://schemas.microsoft.com/office/drawing/2014/main" id="{69E314D4-58A8-4CD9-9B9E-41B786B3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3476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xp-tag-0">
            <a:extLst xmlns:a="http://schemas.openxmlformats.org/drawingml/2006/main">
              <a:ext uri="{FF2B5EF4-FFF2-40B4-BE49-F238E27FC236}">
                <a16:creationId xmlns:a16="http://schemas.microsoft.com/office/drawing/2014/main" id="{1C47B2DC-A2D1-408D-AD65-ACB101F0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27D98"/>
                </a:solidFill>
              </a:defRPr>
            </a:pPr>
            <a:r>
              <a:rPr sz="975" b="1" i="0">
                <a:solidFill>
                  <a:srgbClr val="627D98"/>
                </a:solidFill>
              </a:rPr>
              <a:t>BASELINE 1</a:t>
            </a:r>
          </a:p>
        </p:txBody>
      </p:sp>
      <p:sp>
        <p:nvSpPr>
          <p:cNvPr id="9" name="exp-title-0">
            <a:extLst xmlns:a="http://schemas.openxmlformats.org/drawingml/2006/main">
              <a:ext uri="{FF2B5EF4-FFF2-40B4-BE49-F238E27FC236}">
                <a16:creationId xmlns:a16="http://schemas.microsoft.com/office/drawing/2014/main" id="{522BDEA6-DDBE-4450-8D38-11AD03B9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A43"/>
                </a:solidFill>
              </a:defRPr>
            </a:pPr>
            <a:r>
              <a:rPr sz="2100" b="1" i="0">
                <a:solidFill>
                  <a:srgbClr val="102A43"/>
                </a:solidFill>
              </a:rPr>
              <a:t>Full regeneration</a:t>
            </a:r>
          </a:p>
        </p:txBody>
      </p:sp>
      <p:sp>
        <p:nvSpPr>
          <p:cNvPr id="10" name="exp-body-0">
            <a:extLst xmlns:a="http://schemas.openxmlformats.org/drawingml/2006/main">
              <a:ext uri="{FF2B5EF4-FFF2-40B4-BE49-F238E27FC236}">
                <a16:creationId xmlns:a16="http://schemas.microsoft.com/office/drawing/2014/main" id="{33D4B49F-1E52-470E-8C1C-8975F11F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B53"/>
                </a:solidFill>
              </a:defRPr>
            </a:pPr>
            <a:r>
              <a:rPr sz="1350" b="0" i="0">
                <a:solidFill>
                  <a:srgbClr val="243B53"/>
                </a:solidFill>
              </a:rPr>
              <a:t>Embed every chunk again</a:t>
            </a:r>
          </a:p>
        </p:txBody>
      </p:sp>
      <p:sp>
        <p:nvSpPr>
          <p:cNvPr id="11" name="exp-panel-1">
            <a:extLst xmlns:a="http://schemas.openxmlformats.org/drawingml/2006/main">
              <a:ext uri="{FF2B5EF4-FFF2-40B4-BE49-F238E27FC236}">
                <a16:creationId xmlns:a16="http://schemas.microsoft.com/office/drawing/2014/main" id="{5D50E0B8-AAEF-4FCA-8ADE-5DF39555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81250"/>
            <a:ext cx="3476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xp-tag-1">
            <a:extLst xmlns:a="http://schemas.openxmlformats.org/drawingml/2006/main">
              <a:ext uri="{FF2B5EF4-FFF2-40B4-BE49-F238E27FC236}">
                <a16:creationId xmlns:a16="http://schemas.microsoft.com/office/drawing/2014/main" id="{0BEBC8F5-6F03-4BE3-A9B3-370E1F43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67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27D98"/>
                </a:solidFill>
              </a:defRPr>
            </a:pPr>
            <a:r>
              <a:rPr sz="975" b="1" i="0">
                <a:solidFill>
                  <a:srgbClr val="627D98"/>
                </a:solidFill>
              </a:rPr>
              <a:t>BASELINE 2</a:t>
            </a:r>
          </a:p>
        </p:txBody>
      </p:sp>
      <p:sp>
        <p:nvSpPr>
          <p:cNvPr id="13" name="exp-title-1">
            <a:extLst xmlns:a="http://schemas.openxmlformats.org/drawingml/2006/main">
              <a:ext uri="{FF2B5EF4-FFF2-40B4-BE49-F238E27FC236}">
                <a16:creationId xmlns:a16="http://schemas.microsoft.com/office/drawing/2014/main" id="{A60EF00D-DB27-419E-9453-EAAC2C95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43250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A43"/>
                </a:solidFill>
              </a:defRPr>
            </a:pPr>
            <a:r>
              <a:rPr sz="2100" b="1" i="0">
                <a:solidFill>
                  <a:srgbClr val="102A43"/>
                </a:solidFill>
              </a:rPr>
              <a:t>Document-level</a:t>
            </a:r>
          </a:p>
        </p:txBody>
      </p:sp>
      <p:sp>
        <p:nvSpPr>
          <p:cNvPr id="14" name="exp-body-1">
            <a:extLst xmlns:a="http://schemas.openxmlformats.org/drawingml/2006/main">
              <a:ext uri="{FF2B5EF4-FFF2-40B4-BE49-F238E27FC236}">
                <a16:creationId xmlns:a16="http://schemas.microsoft.com/office/drawing/2014/main" id="{0463083C-C6B2-477D-9647-7E4B7A28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905250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B53"/>
                </a:solidFill>
              </a:defRPr>
            </a:pPr>
            <a:r>
              <a:rPr sz="1350" b="0" i="0">
                <a:solidFill>
                  <a:srgbClr val="243B53"/>
                </a:solidFill>
              </a:rPr>
              <a:t>Re-embed every changed document</a:t>
            </a:r>
          </a:p>
        </p:txBody>
      </p:sp>
      <p:sp>
        <p:nvSpPr>
          <p:cNvPr id="15" name="exp-panel-2">
            <a:extLst xmlns:a="http://schemas.openxmlformats.org/drawingml/2006/main">
              <a:ext uri="{FF2B5EF4-FFF2-40B4-BE49-F238E27FC236}">
                <a16:creationId xmlns:a16="http://schemas.microsoft.com/office/drawing/2014/main" id="{9FE179DF-CF2A-4DF0-8A31-C78A456E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3476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xp-tag-2">
            <a:extLst xmlns:a="http://schemas.openxmlformats.org/drawingml/2006/main">
              <a:ext uri="{FF2B5EF4-FFF2-40B4-BE49-F238E27FC236}">
                <a16:creationId xmlns:a16="http://schemas.microsoft.com/office/drawing/2014/main" id="{74732A43-A593-47FC-A584-24D118D5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67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A5A8"/>
                </a:solidFill>
              </a:defRPr>
            </a:pPr>
            <a:r>
              <a:rPr sz="975" b="1" i="0">
                <a:solidFill>
                  <a:srgbClr val="0EA5A8"/>
                </a:solidFill>
              </a:rPr>
              <a:t>PROPOSED</a:t>
            </a:r>
          </a:p>
        </p:txBody>
      </p:sp>
      <p:sp>
        <p:nvSpPr>
          <p:cNvPr id="17" name="exp-title-2">
            <a:extLst xmlns:a="http://schemas.openxmlformats.org/drawingml/2006/main">
              <a:ext uri="{FF2B5EF4-FFF2-40B4-BE49-F238E27FC236}">
                <a16:creationId xmlns:a16="http://schemas.microsoft.com/office/drawing/2014/main" id="{80461C62-34E0-4B09-B997-E96F6607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43250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A43"/>
                </a:solidFill>
              </a:defRPr>
            </a:pPr>
            <a:r>
              <a:rPr sz="2100" b="1" i="0">
                <a:solidFill>
                  <a:srgbClr val="102A43"/>
                </a:solidFill>
              </a:rPr>
              <a:t>Chunk-level</a:t>
            </a:r>
          </a:p>
        </p:txBody>
      </p:sp>
      <p:sp>
        <p:nvSpPr>
          <p:cNvPr id="18" name="exp-body-2">
            <a:extLst xmlns:a="http://schemas.openxmlformats.org/drawingml/2006/main">
              <a:ext uri="{FF2B5EF4-FFF2-40B4-BE49-F238E27FC236}">
                <a16:creationId xmlns:a16="http://schemas.microsoft.com/office/drawing/2014/main" id="{95DB59D8-683B-4316-82A9-AAF38D53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05250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B53"/>
                </a:solidFill>
              </a:defRPr>
            </a:pPr>
            <a:r>
              <a:rPr sz="1350" b="0" i="0">
                <a:solidFill>
                  <a:srgbClr val="243B53"/>
                </a:solidFill>
              </a:rPr>
              <a:t>Embed only added, modified, or stale chunks</a:t>
            </a:r>
          </a:p>
        </p:txBody>
      </p:sp>
      <p:sp>
        <p:nvSpPr>
          <p:cNvPr id="19" name="exp-changes">
            <a:extLst xmlns:a="http://schemas.openxmlformats.org/drawingml/2006/main">
              <a:ext uri="{FF2B5EF4-FFF2-40B4-BE49-F238E27FC236}">
                <a16:creationId xmlns:a16="http://schemas.microsoft.com/office/drawing/2014/main" id="{7553B1CB-8491-49A7-AD7C-355B8D5D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340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43B53"/>
                </a:solidFill>
              </a:defRPr>
            </a:pPr>
            <a:r>
              <a:rPr sz="1425" b="1" i="0">
                <a:solidFill>
                  <a:srgbClr val="243B53"/>
                </a:solidFill>
              </a:rPr>
              <a:t>Controlled changes: modify 1% / 5% / 10%, add, delete, metadata-only, chunking change, model change</a:t>
            </a:r>
          </a:p>
        </p:txBody>
      </p:sp>
    </p:spTree>
    <p:extLst>
      <p:ext uri="{BB962C8B-B14F-4D97-AF65-F5344CB8AC3E}">
        <p14:creationId xmlns:p14="http://schemas.microsoft.com/office/powerpoint/2010/main" val="1693278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13">
            <a:extLst xmlns:a="http://schemas.openxmlformats.org/drawingml/2006/main">
              <a:ext uri="{FF2B5EF4-FFF2-40B4-BE49-F238E27FC236}">
                <a16:creationId xmlns:a16="http://schemas.microsoft.com/office/drawing/2014/main" id="{73553A9D-5769-48B3-A98A-2C01986C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A5A8"/>
                </a:solidFill>
              </a:defRPr>
            </a:pPr>
            <a:r>
              <a:rPr sz="975" b="1" i="0">
                <a:solidFill>
                  <a:srgbClr val="0EA5A8"/>
                </a:solidFill>
              </a:rPr>
              <a:t>EVALUATION AND EXPECTED OUTCOME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910F60F0-DEF7-452A-A506-850AD27A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Success requires efficiency gains without retrieval regressions</a:t>
            </a:r>
          </a:p>
        </p:txBody>
      </p:sp>
      <p:sp>
        <p:nvSpPr>
          <p:cNvPr id="3" name="footer-line-13">
            <a:extLst xmlns:a="http://schemas.openxmlformats.org/drawingml/2006/main">
              <a:ext uri="{FF2B5EF4-FFF2-40B4-BE49-F238E27FC236}">
                <a16:creationId xmlns:a16="http://schemas.microsoft.com/office/drawing/2014/main" id="{5F4067D4-2881-4A48-A4A5-A142D376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-13">
            <a:extLst xmlns:a="http://schemas.openxmlformats.org/drawingml/2006/main">
              <a:ext uri="{FF2B5EF4-FFF2-40B4-BE49-F238E27FC236}">
                <a16:creationId xmlns:a16="http://schemas.microsoft.com/office/drawing/2014/main" id="{22363ECB-17BB-4E90-9492-96316D36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7D98"/>
                </a:solidFill>
              </a:defRPr>
            </a:pPr>
            <a:r>
              <a:rPr sz="825" b="1" i="0">
                <a:solidFill>
                  <a:srgbClr val="627D98"/>
                </a:solidFill>
              </a:rPr>
              <a:t>GIT FOR EMBEDDINGS  |  SEMESTER PBL</a:t>
            </a:r>
          </a:p>
        </p:txBody>
      </p:sp>
      <p:sp>
        <p:nvSpPr>
          <p:cNvPr id="5" name="footer-number-13">
            <a:extLst xmlns:a="http://schemas.openxmlformats.org/drawingml/2006/main">
              <a:ext uri="{FF2B5EF4-FFF2-40B4-BE49-F238E27FC236}">
                <a16:creationId xmlns:a16="http://schemas.microsoft.com/office/drawing/2014/main" id="{5351395A-6911-4BEB-A8A8-5FBA2D7E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D98"/>
                </a:solidFill>
              </a:defRPr>
            </a:pPr>
            <a:r>
              <a:rPr sz="900" b="0" i="0">
                <a:solidFill>
                  <a:srgbClr val="627D98"/>
                </a:solidFill>
              </a:rPr>
              <a:t>13</a:t>
            </a:r>
          </a:p>
        </p:txBody>
      </p:sp>
      <p:sp>
        <p:nvSpPr>
          <p:cNvPr id="6" name="metric-title-0">
            <a:extLst xmlns:a="http://schemas.openxmlformats.org/drawingml/2006/main">
              <a:ext uri="{FF2B5EF4-FFF2-40B4-BE49-F238E27FC236}">
                <a16:creationId xmlns:a16="http://schemas.microsoft.com/office/drawing/2014/main" id="{8E024FD4-18DC-443E-B80F-6E5F1232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6687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363DF"/>
                </a:solidFill>
              </a:defRPr>
            </a:pPr>
            <a:r>
              <a:rPr sz="2025" b="1" i="0">
                <a:solidFill>
                  <a:srgbClr val="1363DF"/>
                </a:solidFill>
              </a:rPr>
              <a:t>Efficiency</a:t>
            </a:r>
          </a:p>
        </p:txBody>
      </p:sp>
      <p:sp>
        <p:nvSpPr>
          <p:cNvPr id="7" name="metric-rule-0">
            <a:extLst xmlns:a="http://schemas.openxmlformats.org/drawingml/2006/main">
              <a:ext uri="{FF2B5EF4-FFF2-40B4-BE49-F238E27FC236}">
                <a16:creationId xmlns:a16="http://schemas.microsoft.com/office/drawing/2014/main" id="{1BD04CBF-BAF9-4BC8-9EBD-2182A5B7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33625"/>
            <a:ext cx="3190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body-0">
            <a:extLst xmlns:a="http://schemas.openxmlformats.org/drawingml/2006/main">
              <a:ext uri="{FF2B5EF4-FFF2-40B4-BE49-F238E27FC236}">
                <a16:creationId xmlns:a16="http://schemas.microsoft.com/office/drawing/2014/main" id="{62458B7A-B886-4ED1-AED8-1345C70B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14625"/>
            <a:ext cx="323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Execution time</a:t>
            </a:r>
          </a:p>
          <a:p xmlns:a="http://schemas.openxmlformats.org/drawingml/2006/main">
            <a:pPr algn="l"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Model calls</a:t>
            </a:r>
          </a:p>
          <a:p xmlns:a="http://schemas.openxmlformats.org/drawingml/2006/main">
            <a:pPr algn="l"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Vectors reused</a:t>
            </a:r>
          </a:p>
          <a:p xmlns:a="http://schemas.openxmlformats.org/drawingml/2006/main">
            <a:pPr algn="l"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Storage overhead</a:t>
            </a:r>
          </a:p>
        </p:txBody>
      </p:sp>
      <p:sp>
        <p:nvSpPr>
          <p:cNvPr id="9" name="metric-title-1">
            <a:extLst xmlns:a="http://schemas.openxmlformats.org/drawingml/2006/main">
              <a:ext uri="{FF2B5EF4-FFF2-40B4-BE49-F238E27FC236}">
                <a16:creationId xmlns:a16="http://schemas.microsoft.com/office/drawing/2014/main" id="{0A2B663D-D026-4EAC-B0AB-B3E5E5DB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6687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EA5A8"/>
                </a:solidFill>
              </a:defRPr>
            </a:pPr>
            <a:r>
              <a:rPr sz="2025" b="1" i="0">
                <a:solidFill>
                  <a:srgbClr val="0EA5A8"/>
                </a:solidFill>
              </a:rPr>
              <a:t>Retrieval quality</a:t>
            </a:r>
          </a:p>
        </p:txBody>
      </p:sp>
      <p:sp>
        <p:nvSpPr>
          <p:cNvPr id="10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51B0CA69-01D8-4FBC-8FD3-F34993C2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3190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body-1">
            <a:extLst xmlns:a="http://schemas.openxmlformats.org/drawingml/2006/main">
              <a:ext uri="{FF2B5EF4-FFF2-40B4-BE49-F238E27FC236}">
                <a16:creationId xmlns:a16="http://schemas.microsoft.com/office/drawing/2014/main" id="{B325B1A9-8B51-40B9-A506-E5D4EFC9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14625"/>
            <a:ext cx="323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Recall@K</a:t>
            </a:r>
          </a:p>
          <a:p xmlns:a="http://schemas.openxmlformats.org/drawingml/2006/main">
            <a:pPr algn="l"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MRR</a:t>
            </a:r>
          </a:p>
          <a:p xmlns:a="http://schemas.openxmlformats.org/drawingml/2006/main">
            <a:pPr algn="l"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NDCG@K</a:t>
            </a:r>
          </a:p>
          <a:p xmlns:a="http://schemas.openxmlformats.org/drawingml/2006/main">
            <a:pPr algn="l"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Top-k overlap</a:t>
            </a:r>
          </a:p>
        </p:txBody>
      </p:sp>
      <p:sp>
        <p:nvSpPr>
          <p:cNvPr id="12" name="metric-title-2">
            <a:extLst xmlns:a="http://schemas.openxmlformats.org/drawingml/2006/main">
              <a:ext uri="{FF2B5EF4-FFF2-40B4-BE49-F238E27FC236}">
                <a16:creationId xmlns:a16="http://schemas.microsoft.com/office/drawing/2014/main" id="{9BC1C4FA-A548-4D90-900E-4FA24C2A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6687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363DF"/>
                </a:solidFill>
              </a:defRPr>
            </a:pPr>
            <a:r>
              <a:rPr sz="2025" b="1" i="0">
                <a:solidFill>
                  <a:srgbClr val="1363DF"/>
                </a:solidFill>
              </a:rPr>
              <a:t>Reproducibility</a:t>
            </a:r>
          </a:p>
        </p:txBody>
      </p:sp>
      <p:sp>
        <p:nvSpPr>
          <p:cNvPr id="13" name="metric-rule-2">
            <a:extLst xmlns:a="http://schemas.openxmlformats.org/drawingml/2006/main">
              <a:ext uri="{FF2B5EF4-FFF2-40B4-BE49-F238E27FC236}">
                <a16:creationId xmlns:a16="http://schemas.microsoft.com/office/drawing/2014/main" id="{4AEB39CA-D5DC-44AC-8CE8-7A054513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33625"/>
            <a:ext cx="3190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ric-body-2">
            <a:extLst xmlns:a="http://schemas.openxmlformats.org/drawingml/2006/main">
              <a:ext uri="{FF2B5EF4-FFF2-40B4-BE49-F238E27FC236}">
                <a16:creationId xmlns:a16="http://schemas.microsoft.com/office/drawing/2014/main" id="{8AE6EF4D-F6DA-4C51-8D34-1DFF7351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4625"/>
            <a:ext cx="323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Same chunks</a:t>
            </a:r>
          </a:p>
          <a:p xmlns:a="http://schemas.openxmlformats.org/drawingml/2006/main">
            <a:pPr algn="l"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Same metadata + config</a:t>
            </a:r>
          </a:p>
          <a:p xmlns:a="http://schemas.openxmlformats.org/drawingml/2006/main">
            <a:pPr algn="l"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Same store membership</a:t>
            </a:r>
          </a:p>
          <a:p xmlns:a="http://schemas.openxmlformats.org/drawingml/2006/main">
            <a:pPr algn="l"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Similar vectors</a:t>
            </a:r>
          </a:p>
        </p:txBody>
      </p:sp>
      <p:sp>
        <p:nvSpPr>
          <p:cNvPr id="15" name="hypothesis-band">
            <a:extLst xmlns:a="http://schemas.openxmlformats.org/drawingml/2006/main">
              <a:ext uri="{FF2B5EF4-FFF2-40B4-BE49-F238E27FC236}">
                <a16:creationId xmlns:a16="http://schemas.microsoft.com/office/drawing/2014/main" id="{DDC26957-64BC-44DA-96CA-20B61D33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95875"/>
            <a:ext cx="1104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ypothesis-text">
            <a:extLst xmlns:a="http://schemas.openxmlformats.org/drawingml/2006/main">
              <a:ext uri="{FF2B5EF4-FFF2-40B4-BE49-F238E27FC236}">
                <a16:creationId xmlns:a16="http://schemas.microsoft.com/office/drawing/2014/main" id="{5028A992-1A54-41C9-8638-432A9D29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3984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Hypothesis: savings are largest when only a small fraction changes; incompatible configuration changes correctly force broad regeneration.</a:t>
            </a:r>
          </a:p>
        </p:txBody>
      </p:sp>
    </p:spTree>
    <p:extLst>
      <p:ext uri="{BB962C8B-B14F-4D97-AF65-F5344CB8AC3E}">
        <p14:creationId xmlns:p14="http://schemas.microsoft.com/office/powerpoint/2010/main" val="21249716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-14">
            <a:extLst xmlns:a="http://schemas.openxmlformats.org/drawingml/2006/main">
              <a:ext uri="{FF2B5EF4-FFF2-40B4-BE49-F238E27FC236}">
                <a16:creationId xmlns:a16="http://schemas.microsoft.com/office/drawing/2014/main" id="{07AB0386-52CB-4010-804D-F5F45FE9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A5A8"/>
                </a:solidFill>
              </a:defRPr>
            </a:pPr>
            <a:r>
              <a:rPr sz="975" b="1" i="0">
                <a:solidFill>
                  <a:srgbClr val="0EA5A8"/>
                </a:solidFill>
              </a:rPr>
              <a:t>SEMESTER ROADMAP AND CURRENT STATUS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20D7E66C-01A4-48CE-9086-9804E8B8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The project advances from deterministic foundations to measurable evaluation</a:t>
            </a:r>
          </a:p>
        </p:txBody>
      </p:sp>
      <p:sp>
        <p:nvSpPr>
          <p:cNvPr id="3" name="footer-line-14">
            <a:extLst xmlns:a="http://schemas.openxmlformats.org/drawingml/2006/main">
              <a:ext uri="{FF2B5EF4-FFF2-40B4-BE49-F238E27FC236}">
                <a16:creationId xmlns:a16="http://schemas.microsoft.com/office/drawing/2014/main" id="{0C1AC892-6581-4862-AD05-0507F0D6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-14">
            <a:extLst xmlns:a="http://schemas.openxmlformats.org/drawingml/2006/main">
              <a:ext uri="{FF2B5EF4-FFF2-40B4-BE49-F238E27FC236}">
                <a16:creationId xmlns:a16="http://schemas.microsoft.com/office/drawing/2014/main" id="{BCA39EB9-8973-4511-B59F-5A938FF9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7D98"/>
                </a:solidFill>
              </a:defRPr>
            </a:pPr>
            <a:r>
              <a:rPr sz="825" b="1" i="0">
                <a:solidFill>
                  <a:srgbClr val="627D98"/>
                </a:solidFill>
              </a:rPr>
              <a:t>GIT FOR EMBEDDINGS  |  SEMESTER PBL</a:t>
            </a:r>
          </a:p>
        </p:txBody>
      </p:sp>
      <p:sp>
        <p:nvSpPr>
          <p:cNvPr id="5" name="footer-number-14">
            <a:extLst xmlns:a="http://schemas.openxmlformats.org/drawingml/2006/main">
              <a:ext uri="{FF2B5EF4-FFF2-40B4-BE49-F238E27FC236}">
                <a16:creationId xmlns:a16="http://schemas.microsoft.com/office/drawing/2014/main" id="{A0BF6F3E-22BA-417D-81B4-B9F99790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D98"/>
                </a:solidFill>
              </a:defRPr>
            </a:pPr>
            <a:r>
              <a:rPr sz="900" b="0" i="0">
                <a:solidFill>
                  <a:srgbClr val="627D98"/>
                </a:solidFill>
              </a:rPr>
              <a:t>14</a:t>
            </a:r>
          </a:p>
        </p:txBody>
      </p:sp>
      <p:sp>
        <p:nvSpPr>
          <p:cNvPr id="6" name="road-line">
            <a:extLst xmlns:a="http://schemas.openxmlformats.org/drawingml/2006/main">
              <a:ext uri="{FF2B5EF4-FFF2-40B4-BE49-F238E27FC236}">
                <a16:creationId xmlns:a16="http://schemas.microsoft.com/office/drawing/2014/main" id="{CCF24EAF-D33A-49C4-9F42-E0D22769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62375"/>
            <a:ext cx="933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ad-card-0">
            <a:extLst xmlns:a="http://schemas.openxmlformats.org/drawingml/2006/main">
              <a:ext uri="{FF2B5EF4-FFF2-40B4-BE49-F238E27FC236}">
                <a16:creationId xmlns:a16="http://schemas.microsoft.com/office/drawing/2014/main" id="{A4B297D7-3096-4F90-B7B9-293C617F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3143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ad-num-0">
            <a:extLst xmlns:a="http://schemas.openxmlformats.org/drawingml/2006/main">
              <a:ext uri="{FF2B5EF4-FFF2-40B4-BE49-F238E27FC236}">
                <a16:creationId xmlns:a16="http://schemas.microsoft.com/office/drawing/2014/main" id="{68478E1E-0169-434B-960C-E88F43EA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5737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363DF"/>
                </a:solidFill>
              </a:defRPr>
            </a:pPr>
            <a:r>
              <a:rPr sz="2850" b="1" i="0">
                <a:solidFill>
                  <a:srgbClr val="1363DF"/>
                </a:solidFill>
              </a:rPr>
              <a:t>1</a:t>
            </a:r>
          </a:p>
        </p:txBody>
      </p:sp>
      <p:sp>
        <p:nvSpPr>
          <p:cNvPr id="9" name="road-title-0">
            <a:extLst xmlns:a="http://schemas.openxmlformats.org/drawingml/2006/main">
              <a:ext uri="{FF2B5EF4-FFF2-40B4-BE49-F238E27FC236}">
                <a16:creationId xmlns:a16="http://schemas.microsoft.com/office/drawing/2014/main" id="{94A8B398-4B43-4CF8-AB8B-399B5870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Foundation</a:t>
            </a:r>
          </a:p>
        </p:txBody>
      </p:sp>
      <p:sp>
        <p:nvSpPr>
          <p:cNvPr id="10" name="road-body-0">
            <a:extLst xmlns:a="http://schemas.openxmlformats.org/drawingml/2006/main">
              <a:ext uri="{FF2B5EF4-FFF2-40B4-BE49-F238E27FC236}">
                <a16:creationId xmlns:a16="http://schemas.microsoft.com/office/drawing/2014/main" id="{22B6B9EA-3430-4B2B-9DA4-C5C3DF75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051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43B53"/>
                </a:solidFill>
              </a:defRPr>
            </a:pPr>
            <a:r>
              <a:rPr sz="1200" b="0" i="0">
                <a:solidFill>
                  <a:srgbClr val="243B53"/>
                </a:solidFill>
              </a:rPr>
              <a:t>Schemas, loaders, chunking, hashing</a:t>
            </a:r>
          </a:p>
        </p:txBody>
      </p:sp>
      <p:sp>
        <p:nvSpPr>
          <p:cNvPr id="11" name="road-dot-0">
            <a:extLst xmlns:a="http://schemas.openxmlformats.org/drawingml/2006/main">
              <a:ext uri="{FF2B5EF4-FFF2-40B4-BE49-F238E27FC236}">
                <a16:creationId xmlns:a16="http://schemas.microsoft.com/office/drawing/2014/main" id="{3F2464BF-433F-4747-B31F-D63FBA1E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76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oad-card-1">
            <a:extLst xmlns:a="http://schemas.openxmlformats.org/drawingml/2006/main">
              <a:ext uri="{FF2B5EF4-FFF2-40B4-BE49-F238E27FC236}">
                <a16:creationId xmlns:a16="http://schemas.microsoft.com/office/drawing/2014/main" id="{710DD817-C512-4BB1-893E-226B87B1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619250"/>
            <a:ext cx="3143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oad-num-1">
            <a:extLst xmlns:a="http://schemas.openxmlformats.org/drawingml/2006/main">
              <a:ext uri="{FF2B5EF4-FFF2-40B4-BE49-F238E27FC236}">
                <a16:creationId xmlns:a16="http://schemas.microsoft.com/office/drawing/2014/main" id="{757C11AC-00A9-4902-964F-0A5D0367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5737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627D98"/>
                </a:solidFill>
              </a:defRPr>
            </a:pPr>
            <a:r>
              <a:rPr sz="2850" b="1" i="0">
                <a:solidFill>
                  <a:srgbClr val="627D98"/>
                </a:solidFill>
              </a:rPr>
              <a:t>2</a:t>
            </a:r>
          </a:p>
        </p:txBody>
      </p:sp>
      <p:sp>
        <p:nvSpPr>
          <p:cNvPr id="14" name="road-title-1">
            <a:extLst xmlns:a="http://schemas.openxmlformats.org/drawingml/2006/main">
              <a:ext uri="{FF2B5EF4-FFF2-40B4-BE49-F238E27FC236}">
                <a16:creationId xmlns:a16="http://schemas.microsoft.com/office/drawing/2014/main" id="{3E25992B-1FF4-483C-8271-0AE47FA2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288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Versioning core</a:t>
            </a:r>
          </a:p>
        </p:txBody>
      </p:sp>
      <p:sp>
        <p:nvSpPr>
          <p:cNvPr id="15" name="road-body-1">
            <a:extLst xmlns:a="http://schemas.openxmlformats.org/drawingml/2006/main">
              <a:ext uri="{FF2B5EF4-FFF2-40B4-BE49-F238E27FC236}">
                <a16:creationId xmlns:a16="http://schemas.microsoft.com/office/drawing/2014/main" id="{C0BE73A9-F5D9-4677-A3BF-FD2C38F4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051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18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43B53"/>
                </a:solidFill>
              </a:defRPr>
            </a:pPr>
            <a:r>
              <a:rPr sz="1200" b="0" i="0">
                <a:solidFill>
                  <a:srgbClr val="243B53"/>
                </a:solidFill>
              </a:rPr>
              <a:t>Objects, commits, status, incremental embed</a:t>
            </a:r>
          </a:p>
        </p:txBody>
      </p:sp>
      <p:sp>
        <p:nvSpPr>
          <p:cNvPr id="16" name="road-dot-1">
            <a:extLst xmlns:a="http://schemas.openxmlformats.org/drawingml/2006/main">
              <a:ext uri="{FF2B5EF4-FFF2-40B4-BE49-F238E27FC236}">
                <a16:creationId xmlns:a16="http://schemas.microsoft.com/office/drawing/2014/main" id="{951DFEBD-F840-4BFA-898E-B26EC767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76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2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oad-card-2">
            <a:extLst xmlns:a="http://schemas.openxmlformats.org/drawingml/2006/main">
              <a:ext uri="{FF2B5EF4-FFF2-40B4-BE49-F238E27FC236}">
                <a16:creationId xmlns:a16="http://schemas.microsoft.com/office/drawing/2014/main" id="{FFDD2233-FD3B-4B5E-9E44-0653C4FF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3143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oad-num-2">
            <a:extLst xmlns:a="http://schemas.openxmlformats.org/drawingml/2006/main">
              <a:ext uri="{FF2B5EF4-FFF2-40B4-BE49-F238E27FC236}">
                <a16:creationId xmlns:a16="http://schemas.microsoft.com/office/drawing/2014/main" id="{ADA66F51-BD27-4AC8-84C1-26BA56C3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5737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627D98"/>
                </a:solidFill>
              </a:defRPr>
            </a:pPr>
            <a:r>
              <a:rPr sz="2850" b="1" i="0">
                <a:solidFill>
                  <a:srgbClr val="627D98"/>
                </a:solidFill>
              </a:rPr>
              <a:t>3</a:t>
            </a:r>
          </a:p>
        </p:txBody>
      </p:sp>
      <p:sp>
        <p:nvSpPr>
          <p:cNvPr id="19" name="road-title-2">
            <a:extLst xmlns:a="http://schemas.openxmlformats.org/drawingml/2006/main">
              <a:ext uri="{FF2B5EF4-FFF2-40B4-BE49-F238E27FC236}">
                <a16:creationId xmlns:a16="http://schemas.microsoft.com/office/drawing/2014/main" id="{1D7ED8E5-5640-480D-A10A-490424BE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288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Validation</a:t>
            </a:r>
          </a:p>
        </p:txBody>
      </p:sp>
      <p:sp>
        <p:nvSpPr>
          <p:cNvPr id="20" name="road-body-2">
            <a:extLst xmlns:a="http://schemas.openxmlformats.org/drawingml/2006/main">
              <a:ext uri="{FF2B5EF4-FFF2-40B4-BE49-F238E27FC236}">
                <a16:creationId xmlns:a16="http://schemas.microsoft.com/office/drawing/2014/main" id="{E85B256B-A4EA-4E78-B3C1-19919EE9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051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784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43B53"/>
                </a:solidFill>
              </a:defRPr>
            </a:pPr>
            <a:r>
              <a:rPr sz="1200" b="0" i="0">
                <a:solidFill>
                  <a:srgbClr val="243B53"/>
                </a:solidFill>
              </a:rPr>
              <a:t>Diff, restore, ChromaDB sync, benchmarks</a:t>
            </a:r>
          </a:p>
        </p:txBody>
      </p:sp>
      <p:sp>
        <p:nvSpPr>
          <p:cNvPr id="21" name="road-dot-2">
            <a:extLst xmlns:a="http://schemas.openxmlformats.org/drawingml/2006/main">
              <a:ext uri="{FF2B5EF4-FFF2-40B4-BE49-F238E27FC236}">
                <a16:creationId xmlns:a16="http://schemas.microsoft.com/office/drawing/2014/main" id="{667C4BF9-D9D2-4F0F-B05A-7146E112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76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2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tatus-title">
            <a:extLst xmlns:a="http://schemas.openxmlformats.org/drawingml/2006/main">
              <a:ext uri="{FF2B5EF4-FFF2-40B4-BE49-F238E27FC236}">
                <a16:creationId xmlns:a16="http://schemas.microsoft.com/office/drawing/2014/main" id="{35C95F40-B276-4064-96C0-35B5F30A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96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A43"/>
                </a:solidFill>
              </a:defRPr>
            </a:pPr>
            <a:r>
              <a:rPr sz="1875" b="1" i="0">
                <a:solidFill>
                  <a:srgbClr val="102A43"/>
                </a:solidFill>
              </a:rPr>
              <a:t>Current repository status</a:t>
            </a:r>
          </a:p>
        </p:txBody>
      </p:sp>
      <p:sp>
        <p:nvSpPr>
          <p:cNvPr id="23" name="status-body">
            <a:extLst xmlns:a="http://schemas.openxmlformats.org/drawingml/2006/main">
              <a:ext uri="{FF2B5EF4-FFF2-40B4-BE49-F238E27FC236}">
                <a16:creationId xmlns:a16="http://schemas.microsoft.com/office/drawing/2014/main" id="{D3B7FAA7-C50F-4DDC-A833-E1E8D16B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847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Specification, synopsis, README, and team primer complete. Implementation and benchmark results remain to be built and verified.</a:t>
            </a:r>
          </a:p>
        </p:txBody>
      </p:sp>
    </p:spTree>
    <p:extLst>
      <p:ext uri="{BB962C8B-B14F-4D97-AF65-F5344CB8AC3E}">
        <p14:creationId xmlns:p14="http://schemas.microsoft.com/office/powerpoint/2010/main" val="17613092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06436829-C259-46F4-82DD-D405AD85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81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EE8EA"/>
                </a:solidFill>
              </a:defRPr>
            </a:pPr>
            <a:r>
              <a:rPr sz="1050" b="1" i="0">
                <a:solidFill>
                  <a:srgbClr val="8EE8EA"/>
                </a:solidFill>
              </a:rPr>
              <a:t>PROPOSED CONTRIBUTION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CECEE856-EBCD-4645-A8EB-18D7420D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952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A version-control layer for the embedding lifecycle</a:t>
            </a:r>
          </a:p>
        </p:txBody>
      </p:sp>
      <p:sp>
        <p:nvSpPr>
          <p:cNvPr id="3" name="close-body">
            <a:extLst xmlns:a="http://schemas.openxmlformats.org/drawingml/2006/main">
              <a:ext uri="{FF2B5EF4-FFF2-40B4-BE49-F238E27FC236}">
                <a16:creationId xmlns:a16="http://schemas.microsoft.com/office/drawing/2014/main" id="{65EA9F59-F3F4-4F8D-A137-DABDBFA6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D8E7F3"/>
                </a:solidFill>
              </a:defRPr>
            </a:pPr>
            <a:r>
              <a:rPr sz="1875" b="0" i="0">
                <a:solidFill>
                  <a:srgbClr val="D8E7F3"/>
                </a:solidFill>
              </a:rPr>
              <a:t>Content-addressable storage + chunk-level change detection + configuration-aware invalidation + reproducible snapshots + vector-store synchronization</a:t>
            </a:r>
          </a:p>
        </p:txBody>
      </p:sp>
      <p:sp>
        <p:nvSpPr>
          <p:cNvPr id="4" name="close-rule">
            <a:extLst xmlns:a="http://schemas.openxmlformats.org/drawingml/2006/main">
              <a:ext uri="{FF2B5EF4-FFF2-40B4-BE49-F238E27FC236}">
                <a16:creationId xmlns:a16="http://schemas.microsoft.com/office/drawing/2014/main" id="{E37B04CF-D6FB-47F3-B1C9-8D13A6E7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e-boundary">
            <a:extLst xmlns:a="http://schemas.openxmlformats.org/drawingml/2006/main">
              <a:ext uri="{FF2B5EF4-FFF2-40B4-BE49-F238E27FC236}">
                <a16:creationId xmlns:a16="http://schemas.microsoft.com/office/drawing/2014/main" id="{4A7EE2A7-CEFF-443F-A913-1B6D4DE2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Not a new embedding model. Not a replacement for Git. A practical system for managing derived vector artifacts safely and efficiently.</a:t>
            </a:r>
          </a:p>
        </p:txBody>
      </p:sp>
      <p:sp>
        <p:nvSpPr>
          <p:cNvPr id="6" name="close-questions">
            <a:extLst xmlns:a="http://schemas.openxmlformats.org/drawingml/2006/main">
              <a:ext uri="{FF2B5EF4-FFF2-40B4-BE49-F238E27FC236}">
                <a16:creationId xmlns:a16="http://schemas.microsoft.com/office/drawing/2014/main" id="{D3EF1171-1389-4E8F-B33B-9D12E617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EE8EA"/>
                </a:solidFill>
              </a:defRPr>
            </a:pPr>
            <a:r>
              <a:rPr sz="1350" b="1" i="0">
                <a:solidFill>
                  <a:srgbClr val="8EE8EA"/>
                </a:solidFill>
              </a:rPr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15715815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2026-08-07T18:59:37.7520000Z</dcterms:created>
  <dcterms:modified xsi:type="dcterms:W3CDTF">2026-08-07T18:59:37.7520000Z</dcterms:modified>
</coreProperties>
</file>